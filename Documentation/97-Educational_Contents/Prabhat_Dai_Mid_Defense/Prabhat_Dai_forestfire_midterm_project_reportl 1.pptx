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429" r:id="rId3"/>
    <p:sldId id="426" r:id="rId4"/>
    <p:sldId id="440" r:id="rId5"/>
    <p:sldId id="434" r:id="rId6"/>
    <p:sldId id="439" r:id="rId7"/>
    <p:sldId id="445" r:id="rId8"/>
    <p:sldId id="427" r:id="rId9"/>
    <p:sldId id="443" r:id="rId10"/>
    <p:sldId id="469" r:id="rId11"/>
    <p:sldId id="433" r:id="rId12"/>
    <p:sldId id="449" r:id="rId13"/>
    <p:sldId id="450" r:id="rId14"/>
    <p:sldId id="452" r:id="rId15"/>
    <p:sldId id="454" r:id="rId16"/>
    <p:sldId id="455" r:id="rId17"/>
    <p:sldId id="468" r:id="rId18"/>
    <p:sldId id="470" r:id="rId19"/>
    <p:sldId id="465" r:id="rId20"/>
    <p:sldId id="457" r:id="rId21"/>
    <p:sldId id="459" r:id="rId22"/>
    <p:sldId id="460" r:id="rId23"/>
    <p:sldId id="462" r:id="rId24"/>
    <p:sldId id="464" r:id="rId25"/>
    <p:sldId id="430" r:id="rId26"/>
    <p:sldId id="444" r:id="rId27"/>
    <p:sldId id="432" r:id="rId28"/>
    <p:sldId id="466" r:id="rId29"/>
    <p:sldId id="431" r:id="rId30"/>
  </p:sldIdLst>
  <p:sldSz cx="12192000" cy="6858000"/>
  <p:notesSz cx="10234613" cy="70993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3475"/>
    <a:srgbClr val="BBAC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18705-BE8E-F21B-28CB-CECA35F966B6}" v="32" dt="2026-02-17T06:26:00.408"/>
    <p1510:client id="{4A7B3A3F-4897-7337-6507-AE19CBB11887}" v="2" dt="2026-02-17T06:00:50.257"/>
    <p1510:client id="{577EBE9A-CB7D-133D-470D-7CB41C39D521}" v="98" dt="2026-02-16T08:22:40.476"/>
    <p1510:client id="{CD35D2DC-61BA-1330-146C-6D92FD7529E8}" v="313" dt="2026-02-16T19:14:25.922"/>
    <p1510:client id="{D9ACAB04-2AA8-D5AF-E278-A7A9B415F00F}" v="1" dt="2026-02-16T19:22:03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5444" cy="355670"/>
          </a:xfrm>
          <a:prstGeom prst="rect">
            <a:avLst/>
          </a:prstGeom>
        </p:spPr>
        <p:txBody>
          <a:bodyPr vert="horz" lIns="92931" tIns="46466" rIns="92931" bIns="4646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6952" y="0"/>
            <a:ext cx="4435444" cy="355670"/>
          </a:xfrm>
          <a:prstGeom prst="rect">
            <a:avLst/>
          </a:prstGeom>
        </p:spPr>
        <p:txBody>
          <a:bodyPr vert="horz" lIns="92931" tIns="46466" rIns="92931" bIns="46466" rtlCol="0"/>
          <a:lstStyle>
            <a:lvl1pPr algn="r">
              <a:defRPr sz="1200"/>
            </a:lvl1pPr>
          </a:lstStyle>
          <a:p>
            <a:fld id="{F88CB950-2B61-400D-8AEF-EAA4B085AEC3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743636"/>
            <a:ext cx="4435444" cy="355669"/>
          </a:xfrm>
          <a:prstGeom prst="rect">
            <a:avLst/>
          </a:prstGeom>
        </p:spPr>
        <p:txBody>
          <a:bodyPr vert="horz" lIns="92931" tIns="46466" rIns="92931" bIns="4646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6952" y="6743636"/>
            <a:ext cx="4435444" cy="355669"/>
          </a:xfrm>
          <a:prstGeom prst="rect">
            <a:avLst/>
          </a:prstGeom>
        </p:spPr>
        <p:txBody>
          <a:bodyPr vert="horz" lIns="92931" tIns="46466" rIns="92931" bIns="46466" rtlCol="0" anchor="b"/>
          <a:lstStyle>
            <a:lvl1pPr algn="r">
              <a:defRPr sz="1200"/>
            </a:lvl1pPr>
          </a:lstStyle>
          <a:p>
            <a:fld id="{EE939C36-CA42-47F8-B2C4-B9BA1D941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238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4434999" cy="356197"/>
          </a:xfrm>
          <a:prstGeom prst="rect">
            <a:avLst/>
          </a:prstGeom>
        </p:spPr>
        <p:txBody>
          <a:bodyPr vert="horz" lIns="98237" tIns="49119" rIns="98237" bIns="49119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2"/>
            <a:ext cx="4434999" cy="356197"/>
          </a:xfrm>
          <a:prstGeom prst="rect">
            <a:avLst/>
          </a:prstGeom>
        </p:spPr>
        <p:txBody>
          <a:bodyPr vert="horz" lIns="98237" tIns="49119" rIns="98237" bIns="49119" rtlCol="0"/>
          <a:lstStyle>
            <a:lvl1pPr algn="r">
              <a:defRPr sz="1300"/>
            </a:lvl1pPr>
          </a:lstStyle>
          <a:p>
            <a:fld id="{1F131371-5B6D-49EB-95CF-CEBE74D1F8E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237" tIns="49119" rIns="98237" bIns="491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6540"/>
            <a:ext cx="8187690" cy="2795349"/>
          </a:xfrm>
          <a:prstGeom prst="rect">
            <a:avLst/>
          </a:prstGeom>
        </p:spPr>
        <p:txBody>
          <a:bodyPr vert="horz" lIns="98237" tIns="49119" rIns="98237" bIns="491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3106"/>
            <a:ext cx="4434999" cy="356196"/>
          </a:xfrm>
          <a:prstGeom prst="rect">
            <a:avLst/>
          </a:prstGeom>
        </p:spPr>
        <p:txBody>
          <a:bodyPr vert="horz" lIns="98237" tIns="49119" rIns="98237" bIns="49119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6743106"/>
            <a:ext cx="4434999" cy="356196"/>
          </a:xfrm>
          <a:prstGeom prst="rect">
            <a:avLst/>
          </a:prstGeom>
        </p:spPr>
        <p:txBody>
          <a:bodyPr vert="horz" lIns="98237" tIns="49119" rIns="98237" bIns="49119" rtlCol="0" anchor="b"/>
          <a:lstStyle>
            <a:lvl1pPr algn="r">
              <a:defRPr sz="1300"/>
            </a:lvl1pPr>
          </a:lstStyle>
          <a:p>
            <a:fld id="{CC94B5DE-7E50-41F6-AD76-0C11F090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609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4B5DE-7E50-41F6-AD76-0C11F090C6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98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87675" y="887413"/>
            <a:ext cx="4259263" cy="23955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C1B013-576D-457E-B290-2FDB12E65909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8328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491087" y="2677415"/>
            <a:ext cx="10363200" cy="901094"/>
          </a:xfrm>
        </p:spPr>
        <p:txBody>
          <a:bodyPr anchor="t" anchorCtr="0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491087" y="3645154"/>
            <a:ext cx="103632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6435296" y="6484289"/>
            <a:ext cx="5756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8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of Electronics and Computer Engineering, NCE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15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92698" y="224119"/>
            <a:ext cx="10616597" cy="53650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300267" y="1090998"/>
            <a:ext cx="11309028" cy="5035167"/>
          </a:xfrm>
        </p:spPr>
        <p:txBody>
          <a:bodyPr/>
          <a:lstStyle>
            <a:lvl1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0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  <a:p>
            <a:pPr lvl="4"/>
            <a:endParaRPr lang="nb-NO"/>
          </a:p>
        </p:txBody>
      </p:sp>
      <p:sp>
        <p:nvSpPr>
          <p:cNvPr id="14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6435296" y="6496821"/>
            <a:ext cx="5756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8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of Electronics and Computer Engineering, NCE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01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6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83733" y="272044"/>
            <a:ext cx="10616597" cy="47202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400"/>
            </a:lvl1pPr>
            <a:lvl2pPr marL="742950" indent="-285750"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Courier New" panose="02070309020205020404" pitchFamily="49" charset="0"/>
              <a:buChar char="o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402730" cy="4525963"/>
          </a:xfrm>
        </p:spPr>
        <p:txBody>
          <a:bodyPr/>
          <a:lstStyle>
            <a:lvl1pPr marL="342900" indent="-34290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400"/>
            </a:lvl1pPr>
            <a:lvl2pPr marL="742950" indent="-285750"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Courier New" panose="02070309020205020404" pitchFamily="49" charset="0"/>
              <a:buChar char="o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7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1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19593" y="272044"/>
            <a:ext cx="10616597" cy="456452"/>
          </a:xfrm>
        </p:spPr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4428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4428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8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3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92698" y="289973"/>
            <a:ext cx="10616597" cy="46306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4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4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3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1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noFill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6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8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6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92240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3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5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5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62000" y="6501368"/>
            <a:ext cx="11430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</a:rPr>
              <a:t>Dept. of</a:t>
            </a:r>
            <a:r>
              <a:rPr lang="en-US" sz="1800" b="1" baseline="0">
                <a:solidFill>
                  <a:schemeClr val="bg1"/>
                </a:solidFill>
              </a:rPr>
              <a:t> Electronics and Computer </a:t>
            </a:r>
            <a:r>
              <a:rPr lang="en-US" sz="1800" b="1" baseline="0" err="1">
                <a:solidFill>
                  <a:schemeClr val="bg1"/>
                </a:solidFill>
              </a:rPr>
              <a:t>Engg</a:t>
            </a:r>
            <a:r>
              <a:rPr lang="en-US" sz="1800" b="1" baseline="0">
                <a:solidFill>
                  <a:schemeClr val="bg1"/>
                </a:solidFill>
              </a:rPr>
              <a:t>., NCE, </a:t>
            </a:r>
            <a:r>
              <a:rPr lang="en-US" sz="1800" b="1" err="1">
                <a:solidFill>
                  <a:schemeClr val="bg1"/>
                </a:solidFill>
              </a:rPr>
              <a:t>Tribhuvan</a:t>
            </a:r>
            <a:r>
              <a:rPr lang="en-US" sz="1800" b="1">
                <a:solidFill>
                  <a:schemeClr val="bg1"/>
                </a:solidFill>
              </a:rPr>
              <a:t> University, Nepal</a:t>
            </a:r>
          </a:p>
        </p:txBody>
      </p:sp>
      <p:sp>
        <p:nvSpPr>
          <p:cNvPr id="5" name="Plassholder for lysbildenummer 5"/>
          <p:cNvSpPr txBox="1">
            <a:spLocks/>
          </p:cNvSpPr>
          <p:nvPr userDrawn="1"/>
        </p:nvSpPr>
        <p:spPr>
          <a:xfrm>
            <a:off x="153493" y="6537870"/>
            <a:ext cx="456108" cy="252102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000" b="1" i="0" smtClean="0">
                <a:solidFill>
                  <a:schemeClr val="bg1"/>
                </a:solidFill>
                <a:latin typeface="Arial"/>
                <a:cs typeface="Arial"/>
              </a:rPr>
              <a:pPr algn="ctr"/>
              <a:t>‹#›</a:t>
            </a:fld>
            <a:endParaRPr lang="nb-NO" sz="1000" b="1" i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3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992698" y="272044"/>
            <a:ext cx="10616597" cy="4564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65803" y="1090998"/>
            <a:ext cx="10643492" cy="5035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pic>
        <p:nvPicPr>
          <p:cNvPr id="5" name="Bilde 4" descr="hor_blaa_strip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9700"/>
            <a:ext cx="12192000" cy="35966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US" sz="180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3" y="16897"/>
            <a:ext cx="966746" cy="96674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484289"/>
            <a:ext cx="12207903" cy="37371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fld id="{91853A39-49B3-554A-AE82-85611CEBD8E3}" type="slidenum">
              <a:rPr lang="nb-NO" sz="1800" b="1" i="0" smtClean="0">
                <a:solidFill>
                  <a:schemeClr val="bg1"/>
                </a:solidFill>
                <a:latin typeface="Arial"/>
                <a:cs typeface="Arial"/>
              </a:rPr>
              <a:pPr algn="just"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6904384" y="6500192"/>
            <a:ext cx="5303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6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of Electronics and Computer Engineering, NCE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1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ts val="1200"/>
        </a:spcBef>
        <a:spcAft>
          <a:spcPts val="600"/>
        </a:spcAft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ts val="60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ts val="600"/>
        </a:spcBef>
        <a:spcAft>
          <a:spcPts val="600"/>
        </a:spcAft>
        <a:buFont typeface="Arial"/>
        <a:buChar char="–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ts val="600"/>
        </a:spcBef>
        <a:spcAft>
          <a:spcPts val="600"/>
        </a:spcAft>
        <a:buFont typeface="Arial"/>
        <a:buChar char="»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dit.com/r/Nepal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tel 1"/>
          <p:cNvSpPr txBox="1">
            <a:spLocks/>
          </p:cNvSpPr>
          <p:nvPr/>
        </p:nvSpPr>
        <p:spPr>
          <a:xfrm>
            <a:off x="957942" y="110621"/>
            <a:ext cx="10912928" cy="149784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nb-NO" sz="4000">
                <a:latin typeface="Times New Roman" panose="02020603050405020304" pitchFamily="18" charset="0"/>
                <a:cs typeface="Times New Roman" panose="02020603050405020304" pitchFamily="18" charset="0"/>
              </a:rPr>
              <a:t>National College of Engineering</a:t>
            </a:r>
            <a:br>
              <a:rPr lang="nb-NO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b-NO" sz="28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Affiliated to Tribhuvan University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gray">
          <a:xfrm>
            <a:off x="6554363" y="3824453"/>
            <a:ext cx="5502532" cy="178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defRPr/>
            </a:pPr>
            <a:r>
              <a:rPr lang="en-US" altLang="en-US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Computer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Engineering, 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6850" y="1845326"/>
            <a:ext cx="9686925" cy="10393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64734" y="1847327"/>
            <a:ext cx="9589555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Wildfire Monitoring System Using </a:t>
            </a:r>
            <a:r>
              <a:rPr lang="en-US" sz="3200" dirty="0" err="1">
                <a:solidFill>
                  <a:srgbClr val="00B050"/>
                </a:solidFill>
                <a:ea typeface="+mn-lt"/>
                <a:cs typeface="+mn-lt"/>
              </a:rPr>
              <a:t>CatBoost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 and LSTM Hybrid Framework</a:t>
            </a:r>
            <a:endParaRPr lang="en-US" sz="3200" dirty="0">
              <a:solidFill>
                <a:srgbClr val="00B050"/>
              </a:solidFill>
              <a:ea typeface="Calibri"/>
              <a:cs typeface="Calibri"/>
            </a:endParaRPr>
          </a:p>
          <a:p>
            <a:pPr algn="ctr"/>
            <a:endParaRPr lang="en-US" sz="3200" b="1">
              <a:solidFill>
                <a:srgbClr val="00B050"/>
              </a:solidFill>
              <a:ea typeface="Calibri"/>
              <a:cs typeface="Calibri"/>
            </a:endParaRPr>
          </a:p>
          <a:p>
            <a:pPr algn="ctr"/>
            <a:endParaRPr lang="en-US" sz="3200" b="1">
              <a:solidFill>
                <a:srgbClr val="00B050"/>
              </a:solidFill>
              <a:ea typeface="Calibri"/>
              <a:cs typeface="Calibri"/>
            </a:endParaRPr>
          </a:p>
          <a:p>
            <a:pPr algn="ctr"/>
            <a:endParaRPr lang="en-US" sz="32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00174" y="1423797"/>
            <a:ext cx="67600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rgbClr val="0070C0"/>
                </a:solidFill>
                <a:latin typeface="Times New Roman"/>
                <a:cs typeface="Times New Roman"/>
              </a:rPr>
              <a:t>A Minor Project Presentation 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EFA7D9E-D0E1-4E74-A444-EE413E1950A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1051" y="3976853"/>
            <a:ext cx="4859066" cy="178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sz="2400" b="1" u="sng">
                <a:latin typeface="Times New Roman"/>
                <a:cs typeface="Times New Roman"/>
              </a:rPr>
              <a:t>Presented By:</a:t>
            </a:r>
            <a:endParaRPr lang="en-US" alt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Aayush Kandel       </a:t>
            </a:r>
            <a:endParaRPr lang="en-US" alt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Bishal Gyawali          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sz="2000" b="1" err="1">
                <a:solidFill>
                  <a:srgbClr val="7030A0"/>
                </a:solidFill>
                <a:latin typeface="Times New Roman"/>
                <a:cs typeface="Times New Roman"/>
              </a:rPr>
              <a:t>Jonish</a:t>
            </a:r>
            <a:r>
              <a:rPr lang="en-US" alt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 Thapaliya  </a:t>
            </a:r>
            <a:endParaRPr lang="en-US" alt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Prabhat Rawal</a:t>
            </a:r>
            <a:endParaRPr lang="en-US" altLang="en-US" sz="2000" b="1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2DD0D3D-CB9E-D358-256D-764AE47D52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45141" y="3976853"/>
            <a:ext cx="4859066" cy="178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endParaRPr lang="en-US" altLang="en-US" sz="2400" b="1" u="sng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b="1">
                <a:solidFill>
                  <a:srgbClr val="7030A0"/>
                </a:solidFill>
                <a:latin typeface="Times New Roman"/>
                <a:cs typeface="Arial"/>
              </a:rPr>
              <a:t>[NCE079BCT001</a:t>
            </a:r>
            <a:r>
              <a:rPr lang="en-US" alt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]</a:t>
            </a:r>
            <a:endParaRPr lang="en-US" alt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[NCE079BCT009]     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[NCE079BCT013]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[NCE079BCT022]</a:t>
            </a:r>
          </a:p>
        </p:txBody>
      </p:sp>
    </p:spTree>
    <p:extLst>
      <p:ext uri="{BB962C8B-B14F-4D97-AF65-F5344CB8AC3E}">
        <p14:creationId xmlns:p14="http://schemas.microsoft.com/office/powerpoint/2010/main" val="324310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698" y="281345"/>
            <a:ext cx="10616597" cy="46839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698" y="877638"/>
            <a:ext cx="12524645" cy="69736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Introduction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Problem Statement 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Objectives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Related Theory and Literature Review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Methodology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Work Flow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Task Accomplished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Remaining Tasks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en-US" sz="1600" b="1">
                <a:latin typeface="Times New Roman"/>
                <a:cs typeface="Times New Roman"/>
              </a:rPr>
              <a:t>References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3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698" y="224119"/>
            <a:ext cx="10616597" cy="536502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>
                <a:latin typeface="Times New Roman"/>
                <a:cs typeface="Times New Roman"/>
              </a:rPr>
              <a:t>Forest fires are a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major global environmental threat</a:t>
            </a:r>
            <a:r>
              <a:rPr lang="en-US" sz="2000">
                <a:solidFill>
                  <a:schemeClr val="accent4"/>
                </a:solidFill>
                <a:latin typeface="Times New Roman"/>
                <a:cs typeface="Times New Roman"/>
              </a:rPr>
              <a:t>,</a:t>
            </a:r>
            <a:r>
              <a:rPr lang="en-US" sz="2000">
                <a:latin typeface="Times New Roman"/>
                <a:cs typeface="Times New Roman"/>
              </a:rPr>
              <a:t> affecting regions from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Siberia</a:t>
            </a:r>
            <a:r>
              <a:rPr lang="en-US" sz="2000">
                <a:latin typeface="Times New Roman"/>
                <a:cs typeface="Times New Roman"/>
              </a:rPr>
              <a:t> and the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Amazon</a:t>
            </a:r>
            <a:r>
              <a:rPr lang="en-US" sz="2000">
                <a:latin typeface="Times New Roman"/>
                <a:cs typeface="Times New Roman"/>
              </a:rPr>
              <a:t> to the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Himalayan–Hindu Kush (HKH)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region.</a:t>
            </a:r>
            <a:endParaRPr lang="en-US" sz="2000"/>
          </a:p>
          <a:p>
            <a:pPr algn="just"/>
            <a:r>
              <a:rPr lang="en-US" sz="2000">
                <a:latin typeface="Times New Roman"/>
                <a:cs typeface="Times New Roman"/>
              </a:rPr>
              <a:t>Recent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mega-fires</a:t>
            </a:r>
            <a:r>
              <a:rPr lang="en-US" sz="2000">
                <a:latin typeface="Times New Roman"/>
                <a:cs typeface="Times New Roman"/>
              </a:rPr>
              <a:t> in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Australia, Brazil, USA, Greece, and Indonesia</a:t>
            </a:r>
            <a:r>
              <a:rPr lang="en-US" sz="2000">
                <a:latin typeface="Times New Roman"/>
                <a:cs typeface="Times New Roman"/>
              </a:rPr>
              <a:t> have caused severe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ecosystem damage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.</a:t>
            </a:r>
            <a:endParaRPr lang="en-US" sz="2000">
              <a:solidFill>
                <a:srgbClr val="7030A0"/>
              </a:solidFill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Forest fires significantly contribute to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climate change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2000">
                <a:latin typeface="Times New Roman"/>
                <a:cs typeface="Times New Roman"/>
              </a:rPr>
              <a:t>through large-scale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carbon emissions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.</a:t>
            </a:r>
            <a:endParaRPr lang="en-US" sz="2000">
              <a:solidFill>
                <a:srgbClr val="7030A0"/>
              </a:solidFill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A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2°C rise in global temperature</a:t>
            </a:r>
            <a:r>
              <a:rPr lang="en-US" sz="2000">
                <a:latin typeface="Times New Roman"/>
                <a:cs typeface="Times New Roman"/>
              </a:rPr>
              <a:t> has </a:t>
            </a:r>
          </a:p>
          <a:p>
            <a:pPr marL="0" indent="0" algn="just">
              <a:buNone/>
            </a:pPr>
            <a:r>
              <a:rPr lang="en-US" sz="2000">
                <a:latin typeface="Times New Roman"/>
                <a:cs typeface="Times New Roman"/>
              </a:rPr>
              <a:t>     increased the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frequency and intensity</a:t>
            </a:r>
            <a:r>
              <a:rPr lang="en-US" sz="2000">
                <a:latin typeface="Times New Roman"/>
                <a:cs typeface="Times New Roman"/>
              </a:rPr>
              <a:t> </a:t>
            </a:r>
            <a:endParaRPr lang="en-US" sz="2000"/>
          </a:p>
          <a:p>
            <a:pPr marL="0" indent="0" algn="just">
              <a:buNone/>
            </a:pPr>
            <a:r>
              <a:rPr lang="en-US" sz="2000">
                <a:latin typeface="Times New Roman"/>
                <a:cs typeface="Times New Roman"/>
              </a:rPr>
              <a:t>    of forest fires.</a:t>
            </a:r>
            <a:endParaRPr lang="en-US" sz="2000"/>
          </a:p>
          <a:p>
            <a:endParaRPr lang="en-US" sz="2000"/>
          </a:p>
          <a:p>
            <a:pPr marL="914400" lvl="2" indent="0">
              <a:buNone/>
            </a:pPr>
            <a:endParaRPr lang="en-US" sz="2000"/>
          </a:p>
          <a:p>
            <a:pPr lvl="2"/>
            <a:endParaRPr lang="en-US" sz="2000">
              <a:latin typeface="Times New Roman"/>
              <a:cs typeface="Times New Roman"/>
            </a:endParaRPr>
          </a:p>
        </p:txBody>
      </p:sp>
      <p:pic>
        <p:nvPicPr>
          <p:cNvPr id="5" name="Picture 4" descr="A forest fire with smoke coming out of it&#10;&#10;AI-generated content may be incorrect.">
            <a:extLst>
              <a:ext uri="{FF2B5EF4-FFF2-40B4-BE49-F238E27FC236}">
                <a16:creationId xmlns:a16="http://schemas.microsoft.com/office/drawing/2014/main" id="{ACBBD692-BA0F-8865-F9E2-0C0A914EC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525" y="3316141"/>
            <a:ext cx="3080162" cy="2400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305B00-99D9-8AA8-C9DD-A5856AF4A50D}"/>
              </a:ext>
            </a:extLst>
          </p:cNvPr>
          <p:cNvSpPr txBox="1"/>
          <p:nvPr/>
        </p:nvSpPr>
        <p:spPr>
          <a:xfrm>
            <a:off x="4106173" y="5840301"/>
            <a:ext cx="921478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Times New Roman"/>
                <a:ea typeface="+mn-lt"/>
                <a:cs typeface="+mn-lt"/>
              </a:rPr>
              <a:t>      </a:t>
            </a:r>
            <a:r>
              <a:rPr lang="en-GB" sz="1600" b="1" i="1">
                <a:latin typeface="Times New Roman"/>
                <a:ea typeface="+mn-lt"/>
                <a:cs typeface="+mn-lt"/>
              </a:rPr>
              <a:t>Figure 1: Recent </a:t>
            </a:r>
            <a:r>
              <a:rPr lang="en-GB" sz="1600" b="1" i="1">
                <a:solidFill>
                  <a:srgbClr val="7030A0"/>
                </a:solidFill>
                <a:latin typeface="Times New Roman"/>
                <a:ea typeface="+mn-lt"/>
                <a:cs typeface="+mn-lt"/>
              </a:rPr>
              <a:t>Mega-Fires</a:t>
            </a:r>
            <a:r>
              <a:rPr lang="en-GB" sz="1600" b="1" i="1">
                <a:latin typeface="Times New Roman"/>
                <a:ea typeface="+mn-lt"/>
                <a:cs typeface="+mn-lt"/>
              </a:rPr>
              <a:t> Observed in the </a:t>
            </a:r>
            <a:r>
              <a:rPr lang="en-GB" sz="1600" b="1" i="1">
                <a:solidFill>
                  <a:srgbClr val="7030A0"/>
                </a:solidFill>
                <a:latin typeface="Times New Roman"/>
                <a:ea typeface="+mn-lt"/>
                <a:cs typeface="+mn-lt"/>
              </a:rPr>
              <a:t>Amazon Forest</a:t>
            </a:r>
            <a:r>
              <a:rPr lang="en-GB" sz="1600" b="1" i="1">
                <a:latin typeface="Times New Roman"/>
                <a:ea typeface="+mn-lt"/>
                <a:cs typeface="+mn-lt"/>
              </a:rPr>
              <a:t> and </a:t>
            </a:r>
            <a:r>
              <a:rPr lang="en-GB" sz="1600" b="1" i="1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Taplejung</a:t>
            </a:r>
            <a:r>
              <a:rPr lang="en-GB" sz="1600" b="1" i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 "Nepal"</a:t>
            </a:r>
            <a:endParaRPr lang="en-GB" sz="1600" b="1" i="1">
              <a:solidFill>
                <a:srgbClr val="7030A0"/>
              </a:solidFill>
              <a:latin typeface="Times New Roman"/>
              <a:ea typeface="+mn-lt"/>
              <a:cs typeface="Calibri"/>
            </a:endParaRPr>
          </a:p>
          <a:p>
            <a:r>
              <a:rPr lang="en-GB" sz="1600" b="1" i="1">
                <a:solidFill>
                  <a:srgbClr val="00B050"/>
                </a:solidFill>
                <a:latin typeface="Times New Roman"/>
                <a:ea typeface="+mn-lt"/>
                <a:cs typeface="Times New Roman"/>
              </a:rPr>
              <a:t>        [Source : Amazon Forest Fire / Images – </a:t>
            </a:r>
            <a:r>
              <a:rPr lang="en-GB" sz="1600" b="1" i="1" err="1">
                <a:solidFill>
                  <a:srgbClr val="00B050"/>
                </a:solidFill>
                <a:latin typeface="Times New Roman"/>
                <a:ea typeface="+mn-lt"/>
                <a:cs typeface="Times New Roman"/>
              </a:rPr>
              <a:t>Ratopati</a:t>
            </a:r>
            <a:r>
              <a:rPr lang="en-GB" sz="1600" b="1" i="1">
                <a:solidFill>
                  <a:srgbClr val="00B050"/>
                </a:solidFill>
                <a:latin typeface="Times New Roman"/>
                <a:ea typeface="+mn-lt"/>
                <a:cs typeface="Times New Roman"/>
              </a:rPr>
              <a:t> / Nepal Fire images/ </a:t>
            </a:r>
            <a:r>
              <a:rPr lang="en-GB" sz="1600" b="1" i="1" err="1">
                <a:solidFill>
                  <a:srgbClr val="00B050"/>
                </a:solidFill>
                <a:latin typeface="Times New Roman"/>
                <a:ea typeface="+mn-lt"/>
                <a:cs typeface="Times New Roman"/>
              </a:rPr>
              <a:t>Taplejung</a:t>
            </a:r>
            <a:r>
              <a:rPr lang="en-GB" sz="1600" b="1" i="1">
                <a:solidFill>
                  <a:srgbClr val="00B050"/>
                </a:solidFill>
                <a:latin typeface="Times New Roman"/>
                <a:ea typeface="+mn-lt"/>
                <a:cs typeface="Times New Roman"/>
              </a:rPr>
              <a:t> ] </a:t>
            </a:r>
            <a:endParaRPr lang="en-GB" sz="1600" b="1">
              <a:solidFill>
                <a:srgbClr val="00B050"/>
              </a:solidFill>
              <a:latin typeface="Times New Roman"/>
              <a:ea typeface="+mn-lt"/>
              <a:cs typeface="Times New Roman"/>
            </a:endParaRPr>
          </a:p>
          <a:p>
            <a:endParaRPr lang="en-GB" sz="1600" b="1">
              <a:solidFill>
                <a:srgbClr val="7030A0"/>
              </a:solidFill>
              <a:latin typeface="Times New Roman"/>
              <a:ea typeface="+mn-lt"/>
              <a:cs typeface="+mn-lt"/>
            </a:endParaRPr>
          </a:p>
        </p:txBody>
      </p:sp>
      <p:pic>
        <p:nvPicPr>
          <p:cNvPr id="7" name="Picture 6" descr="A forest fire at night&#10;&#10;AI-generated content may be incorrect.">
            <a:extLst>
              <a:ext uri="{FF2B5EF4-FFF2-40B4-BE49-F238E27FC236}">
                <a16:creationId xmlns:a16="http://schemas.microsoft.com/office/drawing/2014/main" id="{10D81BD3-17AF-4DBC-4CF8-89D3E18BD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766" y="3341512"/>
            <a:ext cx="2911180" cy="237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6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698" y="224119"/>
            <a:ext cx="10616597" cy="536502"/>
          </a:xfrm>
        </p:spPr>
        <p:txBody>
          <a:bodyPr/>
          <a:lstStyle/>
          <a:p>
            <a:r>
              <a:rPr lang="en-US"/>
              <a:t>Problem Statement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 b="1">
                <a:latin typeface="Times New Roman"/>
                <a:cs typeface="Times New Roman"/>
              </a:rPr>
              <a:t>Focus is Reactive:</a:t>
            </a:r>
            <a:r>
              <a:rPr lang="en-US" sz="2000">
                <a:latin typeface="Times New Roman"/>
                <a:cs typeface="Times New Roman"/>
              </a:rPr>
              <a:t> Current systems prioritize post-ignition detection over 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proactive forecasting.</a:t>
            </a:r>
            <a:endParaRPr lang="en-US" sz="2000" b="1">
              <a:solidFill>
                <a:srgbClr val="7030A0"/>
              </a:solidFill>
            </a:endParaRPr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The "Gap":</a:t>
            </a:r>
            <a:r>
              <a:rPr lang="en-US" sz="2000">
                <a:latin typeface="Times New Roman"/>
                <a:cs typeface="Times New Roman"/>
              </a:rPr>
              <a:t> Present Technology answers,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"Where is the fire now?"</a:t>
            </a:r>
            <a:r>
              <a:rPr lang="en-US" sz="2000">
                <a:latin typeface="Times New Roman"/>
                <a:cs typeface="Times New Roman"/>
              </a:rPr>
              <a:t> instead of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"Where will it be?".</a:t>
            </a:r>
            <a:endParaRPr lang="en-US" sz="2000" b="1">
              <a:solidFill>
                <a:srgbClr val="7030A0"/>
              </a:solidFill>
            </a:endParaRPr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Data Limitations:</a:t>
            </a:r>
            <a:r>
              <a:rPr lang="en-US" sz="2000">
                <a:latin typeface="Times New Roman"/>
                <a:cs typeface="Times New Roman"/>
              </a:rPr>
              <a:t> Heavy reliance on static/historical data with a lack of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real-time dynamic inputs.</a:t>
            </a:r>
            <a:r>
              <a:rPr lang="en-US" sz="2000">
                <a:solidFill>
                  <a:srgbClr val="00B050"/>
                </a:solidFill>
                <a:latin typeface="Times New Roman"/>
                <a:cs typeface="Times New Roman"/>
              </a:rPr>
              <a:t>[6, 7]</a:t>
            </a:r>
            <a:r>
              <a:rPr lang="en-US" sz="2000">
                <a:latin typeface="Times New Roman"/>
                <a:cs typeface="Times New Roman"/>
              </a:rPr>
              <a:t>.</a:t>
            </a:r>
            <a:endParaRPr lang="en-US" sz="2000"/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Operational Gap:</a:t>
            </a:r>
            <a:r>
              <a:rPr lang="en-US" sz="2000">
                <a:latin typeface="Times New Roman"/>
                <a:cs typeface="Times New Roman"/>
              </a:rPr>
              <a:t> Missing the critical window for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proactive prevention and resource positioning.</a:t>
            </a:r>
            <a:endParaRPr lang="en-US" sz="2000" b="1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/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49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>
                <a:latin typeface="Times New Roman"/>
                <a:cs typeface="Times New Roman"/>
              </a:rPr>
              <a:t> To develop an AI-powered</a:t>
            </a:r>
            <a:r>
              <a:rPr lang="en-US" sz="2000" b="1">
                <a:solidFill>
                  <a:schemeClr val="accent4"/>
                </a:solidFill>
                <a:latin typeface="Times New Roman"/>
                <a:cs typeface="Times New Roman"/>
              </a:rPr>
              <a:t> 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forest</a:t>
            </a:r>
            <a:r>
              <a:rPr lang="en-US" sz="2000" b="1">
                <a:solidFill>
                  <a:schemeClr val="accent4"/>
                </a:solidFill>
                <a:latin typeface="Times New Roman"/>
                <a:cs typeface="Times New Roman"/>
              </a:rPr>
              <a:t> 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fire occurrence prediction system (FFOPM)</a:t>
            </a:r>
            <a:r>
              <a:rPr lang="en-US" sz="2000">
                <a:latin typeface="Times New Roman"/>
                <a:cs typeface="Times New Roman"/>
              </a:rPr>
              <a:t> that integrates satellite remote sensing, topographic, vegetation, and meteorological data to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classify daily fire risk levels using </a:t>
            </a:r>
            <a:r>
              <a:rPr lang="en-US" sz="2000" b="1" err="1">
                <a:solidFill>
                  <a:srgbClr val="7030A0"/>
                </a:solidFill>
                <a:latin typeface="Times New Roman"/>
                <a:cs typeface="Times New Roman"/>
              </a:rPr>
              <a:t>CatBoost</a:t>
            </a:r>
            <a:r>
              <a:rPr lang="en-US" sz="2000">
                <a:latin typeface="Times New Roman"/>
                <a:cs typeface="Times New Roman"/>
              </a:rPr>
              <a:t> ensemble learning approach.</a:t>
            </a:r>
            <a:endParaRPr lang="en-US" sz="2000"/>
          </a:p>
          <a:p>
            <a:pPr algn="just"/>
            <a:r>
              <a:rPr lang="en-US" sz="2000">
                <a:latin typeface="Times New Roman"/>
                <a:cs typeface="Times New Roman"/>
              </a:rPr>
              <a:t> To design a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forest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fire spread forecasting model (FFSFM) using LSTM networks</a:t>
            </a:r>
            <a:r>
              <a:rPr lang="en-US" sz="2000">
                <a:latin typeface="Times New Roman"/>
                <a:cs typeface="Times New Roman"/>
              </a:rPr>
              <a:t> that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predicts spatial-temporal fire propagation patterns and provides actionable intelligence</a:t>
            </a:r>
            <a:r>
              <a:rPr lang="en-US" sz="2000">
                <a:latin typeface="Times New Roman"/>
                <a:cs typeface="Times New Roman"/>
              </a:rPr>
              <a:t> through an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integrated web-based visualization platform</a:t>
            </a:r>
            <a:r>
              <a:rPr lang="en-US" sz="2000">
                <a:latin typeface="Times New Roman"/>
                <a:cs typeface="Times New Roman"/>
              </a:rPr>
              <a:t> for proactive fire management.</a:t>
            </a:r>
            <a:endParaRPr lang="en-US" sz="2000"/>
          </a:p>
          <a:p>
            <a:pPr algn="just"/>
            <a:endParaRPr lang="en-US" sz="1800">
              <a:solidFill>
                <a:srgbClr val="00000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6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ABB682A-4EDE-ACED-0B3B-22E54CBDE6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881573"/>
              </p:ext>
            </p:extLst>
          </p:nvPr>
        </p:nvGraphicFramePr>
        <p:xfrm>
          <a:off x="282978" y="1323717"/>
          <a:ext cx="11627743" cy="5076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403">
                  <a:extLst>
                    <a:ext uri="{9D8B030D-6E8A-4147-A177-3AD203B41FA5}">
                      <a16:colId xmlns:a16="http://schemas.microsoft.com/office/drawing/2014/main" val="1531545880"/>
                    </a:ext>
                  </a:extLst>
                </a:gridCol>
                <a:gridCol w="2547582">
                  <a:extLst>
                    <a:ext uri="{9D8B030D-6E8A-4147-A177-3AD203B41FA5}">
                      <a16:colId xmlns:a16="http://schemas.microsoft.com/office/drawing/2014/main" val="3649681925"/>
                    </a:ext>
                  </a:extLst>
                </a:gridCol>
                <a:gridCol w="1239671">
                  <a:extLst>
                    <a:ext uri="{9D8B030D-6E8A-4147-A177-3AD203B41FA5}">
                      <a16:colId xmlns:a16="http://schemas.microsoft.com/office/drawing/2014/main" val="2784558745"/>
                    </a:ext>
                  </a:extLst>
                </a:gridCol>
                <a:gridCol w="3593900">
                  <a:extLst>
                    <a:ext uri="{9D8B030D-6E8A-4147-A177-3AD203B41FA5}">
                      <a16:colId xmlns:a16="http://schemas.microsoft.com/office/drawing/2014/main" val="865715549"/>
                    </a:ext>
                  </a:extLst>
                </a:gridCol>
                <a:gridCol w="3655187">
                  <a:extLst>
                    <a:ext uri="{9D8B030D-6E8A-4147-A177-3AD203B41FA5}">
                      <a16:colId xmlns:a16="http://schemas.microsoft.com/office/drawing/2014/main" val="117547994"/>
                    </a:ext>
                  </a:extLst>
                </a:gridCol>
              </a:tblGrid>
              <a:tr h="534537"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S.N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Name Of The Article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Authors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Problem Addressed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Area of Improvement</a:t>
                      </a:r>
                      <a:endParaRPr lang="en-US" sz="2000" b="1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00085"/>
                  </a:ext>
                </a:extLst>
              </a:tr>
              <a:tr h="1228298">
                <a:tc>
                  <a:txBody>
                    <a:bodyPr/>
                    <a:lstStyle/>
                    <a:p>
                      <a:r>
                        <a:rPr lang="en-GB" sz="2000" b="0">
                          <a:latin typeface="Times New Roman"/>
                        </a:rPr>
                        <a:t>1.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A forest fire detection system based on ensemble learning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1" u="none" strike="noStrike" noProof="0">
                          <a:solidFill>
                            <a:srgbClr val="00B050"/>
                          </a:solidFill>
                          <a:latin typeface="Times New Roman"/>
                        </a:rPr>
                        <a:t>Xu et al.(2023)</a:t>
                      </a:r>
                      <a:endParaRPr lang="en-US" sz="2000" i="1">
                        <a:solidFill>
                          <a:srgbClr val="00B050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Detection of forest fires using ensemble learning on a custom, diverse image dataset.</a:t>
                      </a:r>
                      <a:endParaRPr lang="en-GB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Slight precision/recall trade-offs occur due to the misclassification of some fire images by the Efficient Net backbone.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533216"/>
                  </a:ext>
                </a:extLst>
              </a:tr>
              <a:tr h="1387522">
                <a:tc>
                  <a:txBody>
                    <a:bodyPr/>
                    <a:lstStyle/>
                    <a:p>
                      <a:r>
                        <a:rPr lang="en-GB" sz="2000" b="0">
                          <a:latin typeface="Times New Roman"/>
                        </a:rPr>
                        <a:t>2.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A forest fire prediction model based on cellular automata and machine learning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1" u="none" strike="noStrike" noProof="0">
                          <a:solidFill>
                            <a:srgbClr val="00B050"/>
                          </a:solidFill>
                          <a:latin typeface="Times New Roman"/>
                        </a:rPr>
                        <a:t>Sun et al.(2024)</a:t>
                      </a:r>
                      <a:endParaRPr lang="en-US" sz="2000" i="1">
                        <a:solidFill>
                          <a:srgbClr val="00B050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Predicting forest fire spread behaviour (FFSBP) by integrating Cellular Automata, the Wang Zhengfei model, and ensemble learning.</a:t>
                      </a:r>
                      <a:endParaRPr lang="en-GB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The model’s accuracy is constrained by its reliance on historical data without real-time combustion experiments.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52130"/>
                  </a:ext>
                </a:extLst>
              </a:tr>
              <a:tr h="1546746">
                <a:tc>
                  <a:txBody>
                    <a:bodyPr/>
                    <a:lstStyle/>
                    <a:p>
                      <a:r>
                        <a:rPr lang="en-GB" sz="2000" b="0">
                          <a:latin typeface="Times New Roman"/>
                        </a:rPr>
                        <a:t>3.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Ensemble learning methods for burned area prediction in California and Portugal forests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1" u="none" strike="noStrike" noProof="0">
                          <a:solidFill>
                            <a:srgbClr val="00B050"/>
                          </a:solidFill>
                          <a:latin typeface="Times New Roman"/>
                        </a:rPr>
                        <a:t>Xie and Peng et al.(2023)</a:t>
                      </a:r>
                      <a:endParaRPr lang="en-US" sz="2000" i="1">
                        <a:solidFill>
                          <a:srgbClr val="00B050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Predicting the size of the burned area using ensemble learning (Random Forests, XG-Boost) and comparing performance against established models.</a:t>
                      </a:r>
                      <a:endParaRPr lang="en-US" sz="200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The study is limited by its reliance on historical data, particularly regarding the accuracy of Support Vector Machines (SVMs) for small fires.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03742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D0E392E-71D6-AE25-1528-211A3FBDC82A}"/>
              </a:ext>
            </a:extLst>
          </p:cNvPr>
          <p:cNvSpPr txBox="1"/>
          <p:nvPr/>
        </p:nvSpPr>
        <p:spPr>
          <a:xfrm>
            <a:off x="380999" y="955343"/>
            <a:ext cx="114356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Times New Roman"/>
                <a:ea typeface="Calibri"/>
                <a:cs typeface="Calibri"/>
              </a:rPr>
              <a:t>[ Table no 5.a : </a:t>
            </a:r>
            <a:r>
              <a:rPr lang="en-GB">
                <a:latin typeface="Times New Roman"/>
                <a:ea typeface="+mn-lt"/>
                <a:cs typeface="+mn-lt"/>
              </a:rPr>
              <a:t>Summary of Related Works on Forest Fire Detection and Prediction with Identified Area of Improvement ]</a:t>
            </a:r>
            <a:endParaRPr lang="en-GB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823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89E73-82C9-2F37-63E3-C09BA82C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9371-9622-197E-3CBA-75F222D1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09631A4-C198-7A85-A1FB-63DAC92600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4915208"/>
              </p:ext>
            </p:extLst>
          </p:nvPr>
        </p:nvGraphicFramePr>
        <p:xfrm>
          <a:off x="276577" y="1405466"/>
          <a:ext cx="11639123" cy="4783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117">
                  <a:extLst>
                    <a:ext uri="{9D8B030D-6E8A-4147-A177-3AD203B41FA5}">
                      <a16:colId xmlns:a16="http://schemas.microsoft.com/office/drawing/2014/main" val="1531545880"/>
                    </a:ext>
                  </a:extLst>
                </a:gridCol>
                <a:gridCol w="2411103">
                  <a:extLst>
                    <a:ext uri="{9D8B030D-6E8A-4147-A177-3AD203B41FA5}">
                      <a16:colId xmlns:a16="http://schemas.microsoft.com/office/drawing/2014/main" val="3649681925"/>
                    </a:ext>
                  </a:extLst>
                </a:gridCol>
                <a:gridCol w="1546745">
                  <a:extLst>
                    <a:ext uri="{9D8B030D-6E8A-4147-A177-3AD203B41FA5}">
                      <a16:colId xmlns:a16="http://schemas.microsoft.com/office/drawing/2014/main" val="2784558745"/>
                    </a:ext>
                  </a:extLst>
                </a:gridCol>
                <a:gridCol w="3036608">
                  <a:extLst>
                    <a:ext uri="{9D8B030D-6E8A-4147-A177-3AD203B41FA5}">
                      <a16:colId xmlns:a16="http://schemas.microsoft.com/office/drawing/2014/main" val="865715549"/>
                    </a:ext>
                  </a:extLst>
                </a:gridCol>
                <a:gridCol w="3848550">
                  <a:extLst>
                    <a:ext uri="{9D8B030D-6E8A-4147-A177-3AD203B41FA5}">
                      <a16:colId xmlns:a16="http://schemas.microsoft.com/office/drawing/2014/main" val="117547994"/>
                    </a:ext>
                  </a:extLst>
                </a:gridCol>
              </a:tblGrid>
              <a:tr h="784746"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S.N.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Name Of The Article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Authors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Problem Addressed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Times New Roman"/>
                        </a:rPr>
                        <a:t>Area of Improvement</a:t>
                      </a:r>
                      <a:endParaRPr lang="en-US" sz="2000" b="1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00085"/>
                  </a:ext>
                </a:extLst>
              </a:tr>
              <a:tr h="2104029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>
                          <a:latin typeface="Times New Roman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Mapping climate change induced forest fire susceptibility using tree-based machine learning algorithms in Bangladesh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1" u="none" strike="noStrike" noProof="0">
                          <a:solidFill>
                            <a:srgbClr val="00B050"/>
                          </a:solidFill>
                          <a:latin typeface="Times New Roman"/>
                        </a:rPr>
                        <a:t>Haydar et al.(2025)</a:t>
                      </a:r>
                      <a:endParaRPr lang="en-US" sz="2000" b="0" i="1">
                        <a:solidFill>
                          <a:srgbClr val="00B050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Mapping forest fire susceptibility and projecting the increase in high-susceptibility areas under future climate change scenarios.</a:t>
                      </a:r>
                      <a:endParaRPr lang="en-GB" sz="2000" b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Predictions are limited by uncertainties inherent in climate models (specifically regarding future projections under the RCP 8.5 scenario).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533216"/>
                  </a:ext>
                </a:extLst>
              </a:tr>
              <a:tr h="1774208">
                <a:tc>
                  <a:txBody>
                    <a:bodyPr/>
                    <a:lstStyle/>
                    <a:p>
                      <a:pPr algn="just"/>
                      <a:r>
                        <a:rPr lang="en-GB" sz="2000" b="0">
                          <a:latin typeface="Times New Roman"/>
                        </a:rPr>
                        <a:t>5.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Satellite data for forest fire detection using deep learning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1" u="none" strike="noStrike" noProof="0">
                          <a:solidFill>
                            <a:srgbClr val="00B050"/>
                          </a:solidFill>
                          <a:latin typeface="Times New Roman"/>
                        </a:rPr>
                        <a:t>Hannane et al.(2023)</a:t>
                      </a:r>
                      <a:endParaRPr lang="en-US" sz="2000" b="0" i="1">
                        <a:solidFill>
                          <a:srgbClr val="00B050"/>
                        </a:solidFill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Analysing forest fire detection accuracy using a deep learning-based Multiscale-net model on Landsat-8 satellite data.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GB" sz="2000" b="0" i="0" u="none" strike="noStrike" noProof="0">
                          <a:latin typeface="Times New Roman"/>
                        </a:rPr>
                        <a:t>Potential for false positives and negatives depending on the specific combination of input bands and kernel sizes, impacting overall reliability.</a:t>
                      </a:r>
                      <a:endParaRPr lang="en-US" sz="2000" b="0"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5213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E77A09E-92D7-2A29-0846-1FBBCEF75900}"/>
              </a:ext>
            </a:extLst>
          </p:cNvPr>
          <p:cNvSpPr txBox="1"/>
          <p:nvPr/>
        </p:nvSpPr>
        <p:spPr>
          <a:xfrm>
            <a:off x="244942" y="973119"/>
            <a:ext cx="116745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Times New Roman"/>
                <a:cs typeface="Times New Roman"/>
              </a:rPr>
              <a:t>[ Table no 5.b : Summary of Related Works on Forest Fire Detection and Prediction with Identified Area of Improvement ]</a:t>
            </a:r>
          </a:p>
          <a:p>
            <a:pPr algn="l"/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30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327" y="1123980"/>
            <a:ext cx="11326088" cy="7417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200" b="1">
                <a:latin typeface="Times New Roman"/>
                <a:cs typeface="Times New Roman"/>
              </a:rPr>
              <a:t>1. Data Acquisition &amp; Preprocessing</a:t>
            </a:r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Data Sources:</a:t>
            </a:r>
            <a:endParaRPr lang="en-US" sz="2000">
              <a:latin typeface="Times New Roman"/>
              <a:cs typeface="Times New Roman"/>
            </a:endParaRPr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 b="1">
                <a:latin typeface="Times New Roman"/>
                <a:cs typeface="Times New Roman"/>
              </a:rPr>
              <a:t>Near-Real-Time Fire: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b="1">
                <a:solidFill>
                  <a:srgbClr val="7030A0"/>
                </a:solidFill>
                <a:latin typeface="Times New Roman"/>
                <a:cs typeface="Times New Roman"/>
              </a:rPr>
              <a:t>NASA FIRMS</a:t>
            </a:r>
            <a:r>
              <a:rPr lang="en-US">
                <a:latin typeface="Times New Roman"/>
                <a:cs typeface="Times New Roman"/>
              </a:rPr>
              <a:t> (MODIS, VIIRS).</a:t>
            </a:r>
            <a:endParaRPr lang="en-US"/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 b="1">
                <a:latin typeface="Times New Roman"/>
                <a:cs typeface="Times New Roman"/>
              </a:rPr>
              <a:t>Static Risk Factors:</a:t>
            </a:r>
            <a:r>
              <a:rPr lang="en-US">
                <a:latin typeface="Times New Roman"/>
                <a:cs typeface="Times New Roman"/>
              </a:rPr>
              <a:t> Topography (DEM), Vegetation/Fuel Type (Land Cover).</a:t>
            </a:r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 b="1">
                <a:latin typeface="Times New Roman"/>
                <a:cs typeface="Times New Roman"/>
              </a:rPr>
              <a:t>Dynamic Factors:</a:t>
            </a:r>
            <a:r>
              <a:rPr lang="en-US">
                <a:latin typeface="Times New Roman"/>
                <a:cs typeface="Times New Roman"/>
              </a:rPr>
              <a:t> Live Weather Data (Wind, Humidity, Temperature).</a:t>
            </a:r>
            <a:endParaRPr lang="en-US"/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Platform:</a:t>
            </a:r>
            <a:r>
              <a:rPr lang="en-US" sz="2000">
                <a:latin typeface="Times New Roman"/>
                <a:cs typeface="Times New Roman"/>
              </a:rPr>
              <a:t> Data acquisition and initial processing managed via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Google Earth Engine (GEE)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.</a:t>
            </a:r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Preprocessing Steps:</a:t>
            </a:r>
            <a:endParaRPr lang="en-US" sz="2000"/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>
                <a:latin typeface="Times New Roman"/>
                <a:cs typeface="Times New Roman"/>
              </a:rPr>
              <a:t>Synchronize static, dynamic, and fire alert data to a unified </a:t>
            </a:r>
            <a:r>
              <a:rPr lang="en-US" err="1">
                <a:latin typeface="Times New Roman"/>
                <a:cs typeface="Times New Roman"/>
              </a:rPr>
              <a:t>spatio</a:t>
            </a:r>
            <a:r>
              <a:rPr lang="en-US">
                <a:latin typeface="Times New Roman"/>
                <a:cs typeface="Times New Roman"/>
              </a:rPr>
              <a:t>-temporal grid.</a:t>
            </a:r>
            <a:endParaRPr lang="en-US"/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>
                <a:latin typeface="Times New Roman"/>
                <a:cs typeface="Times New Roman"/>
              </a:rPr>
              <a:t>Feature Engineering: </a:t>
            </a:r>
            <a:r>
              <a:rPr lang="en-US" b="1">
                <a:solidFill>
                  <a:srgbClr val="7030A0"/>
                </a:solidFill>
                <a:latin typeface="Times New Roman"/>
                <a:cs typeface="Times New Roman"/>
              </a:rPr>
              <a:t>Derive key metrics</a:t>
            </a:r>
            <a:r>
              <a:rPr lang="en-US" b="1">
                <a:latin typeface="Times New Roman"/>
                <a:cs typeface="Times New Roman"/>
              </a:rPr>
              <a:t> </a:t>
            </a:r>
            <a:r>
              <a:rPr lang="en-US">
                <a:latin typeface="Times New Roman"/>
                <a:cs typeface="Times New Roman"/>
              </a:rPr>
              <a:t>like</a:t>
            </a:r>
            <a:r>
              <a:rPr lang="en-US" b="1">
                <a:latin typeface="Times New Roman"/>
                <a:cs typeface="Times New Roman"/>
              </a:rPr>
              <a:t> </a:t>
            </a:r>
            <a:r>
              <a:rPr lang="en-US">
                <a:latin typeface="Times New Roman"/>
                <a:cs typeface="Times New Roman"/>
              </a:rPr>
              <a:t>Fire Radiative Power (FRP) and time-since-last-rain.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9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ED7C-C022-D583-73D1-98A5F4BD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0EB9-1CED-B5D6-2F36-589D1C88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4FD8-5010-6A62-FF45-B628F1DF5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12" y="1005049"/>
            <a:ext cx="11553551" cy="7417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200" b="1">
                <a:latin typeface="Times New Roman"/>
                <a:cs typeface="Times New Roman"/>
              </a:rPr>
              <a:t>2. Model Development &amp; Training</a:t>
            </a:r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Phase 1: </a:t>
            </a:r>
            <a:r>
              <a:rPr lang="en-US" sz="2000">
                <a:latin typeface="Times New Roman"/>
                <a:cs typeface="Times New Roman"/>
              </a:rPr>
              <a:t>Instant Detection</a:t>
            </a:r>
            <a:r>
              <a:rPr lang="en-US" sz="2000" b="1">
                <a:latin typeface="Times New Roman"/>
                <a:cs typeface="Times New Roman"/>
              </a:rPr>
              <a:t> (Pre-Forecast)</a:t>
            </a:r>
            <a:endParaRPr lang="en-US" sz="2000" b="1"/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 b="1">
                <a:latin typeface="Times New Roman"/>
                <a:cs typeface="Times New Roman"/>
              </a:rPr>
              <a:t>Model: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b="1" err="1">
                <a:solidFill>
                  <a:srgbClr val="7030A0"/>
                </a:solidFill>
                <a:latin typeface="Times New Roman"/>
                <a:cs typeface="Times New Roman"/>
              </a:rPr>
              <a:t>CatBoost</a:t>
            </a:r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(Trained on static factors + initial satellite/weather snapshots).</a:t>
            </a:r>
            <a:endParaRPr lang="en-US"/>
          </a:p>
          <a:p>
            <a:pPr algn="just"/>
            <a:r>
              <a:rPr lang="en-US" sz="2000" b="1">
                <a:latin typeface="Times New Roman"/>
                <a:cs typeface="Times New Roman"/>
              </a:rPr>
              <a:t>Phase 2: </a:t>
            </a:r>
            <a:r>
              <a:rPr lang="en-US" sz="2000">
                <a:latin typeface="Times New Roman"/>
                <a:cs typeface="Times New Roman"/>
              </a:rPr>
              <a:t>Adaptive Forecasting </a:t>
            </a:r>
            <a:r>
              <a:rPr lang="en-US" sz="2000" b="1">
                <a:latin typeface="Times New Roman"/>
                <a:cs typeface="Times New Roman"/>
              </a:rPr>
              <a:t>(Post-Forecast)</a:t>
            </a:r>
            <a:endParaRPr lang="en-US" sz="2000" b="1"/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 b="1">
                <a:latin typeface="Times New Roman"/>
                <a:cs typeface="Times New Roman"/>
              </a:rPr>
              <a:t>Model: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b="1">
                <a:solidFill>
                  <a:srgbClr val="7030A0"/>
                </a:solidFill>
                <a:latin typeface="Times New Roman"/>
                <a:cs typeface="Times New Roman"/>
              </a:rPr>
              <a:t> CNN- LSTM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b="1">
                <a:solidFill>
                  <a:srgbClr val="7030A0"/>
                </a:solidFill>
                <a:latin typeface="Times New Roman"/>
                <a:cs typeface="Times New Roman"/>
              </a:rPr>
              <a:t>&amp; </a:t>
            </a:r>
            <a:r>
              <a:rPr lang="en-US" b="1" err="1">
                <a:solidFill>
                  <a:srgbClr val="7030A0"/>
                </a:solidFill>
                <a:latin typeface="Times New Roman"/>
                <a:cs typeface="Times New Roman"/>
              </a:rPr>
              <a:t>Catboost</a:t>
            </a:r>
            <a:r>
              <a:rPr lang="en-US" b="1">
                <a:solidFill>
                  <a:srgbClr val="7030A0"/>
                </a:solidFill>
                <a:latin typeface="Times New Roman"/>
                <a:cs typeface="Times New Roman"/>
              </a:rPr>
              <a:t> Hybrid</a:t>
            </a:r>
            <a:r>
              <a:rPr lang="en-US">
                <a:latin typeface="Times New Roman"/>
                <a:cs typeface="Times New Roman"/>
              </a:rPr>
              <a:t> (Trained on fire perimeter, weather, topography).</a:t>
            </a:r>
            <a:endParaRPr lang="en-US"/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 b="1">
                <a:latin typeface="Times New Roman"/>
                <a:cs typeface="Times New Roman"/>
              </a:rPr>
              <a:t>Input:</a:t>
            </a:r>
            <a:r>
              <a:rPr lang="en-US">
                <a:latin typeface="Times New Roman"/>
                <a:cs typeface="Times New Roman"/>
              </a:rPr>
              <a:t> Sequence of 2D grid features.</a:t>
            </a:r>
            <a:endParaRPr lang="en-US"/>
          </a:p>
          <a:p>
            <a:pPr lvl="1" algn="just">
              <a:buFont typeface="Arial" panose="05000000000000000000" pitchFamily="2" charset="2"/>
              <a:buChar char="•"/>
            </a:pPr>
            <a:r>
              <a:rPr lang="en-US" b="1">
                <a:latin typeface="Times New Roman"/>
                <a:cs typeface="Times New Roman"/>
              </a:rPr>
              <a:t>Output: </a:t>
            </a:r>
            <a:r>
              <a:rPr lang="en-US">
                <a:latin typeface="Times New Roman"/>
                <a:cs typeface="Times New Roman"/>
              </a:rPr>
              <a:t>Predicted 2D fire spread map.</a:t>
            </a:r>
          </a:p>
          <a:p>
            <a:pPr marL="0" indent="0">
              <a:buNone/>
            </a:pPr>
            <a:r>
              <a:rPr lang="en-US" sz="2200" b="1">
                <a:latin typeface="Times New Roman"/>
                <a:cs typeface="Times New Roman"/>
              </a:rPr>
              <a:t>3. Unified System Integration</a:t>
            </a:r>
          </a:p>
          <a:p>
            <a:r>
              <a:rPr lang="en-US" sz="2000" b="1">
                <a:latin typeface="Times New Roman"/>
                <a:cs typeface="Times New Roman"/>
              </a:rPr>
              <a:t>Deployment:</a:t>
            </a:r>
            <a:r>
              <a:rPr lang="en-US" sz="2000">
                <a:latin typeface="Times New Roman"/>
                <a:cs typeface="Times New Roman"/>
              </a:rPr>
              <a:t> Modules are containerized using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2000" b="1">
                <a:solidFill>
                  <a:srgbClr val="7030A0"/>
                </a:solidFill>
                <a:latin typeface="Times New Roman"/>
                <a:cs typeface="Times New Roman"/>
              </a:rPr>
              <a:t>Docker</a:t>
            </a:r>
            <a:r>
              <a:rPr lang="en-US" sz="200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</a:p>
          <a:p>
            <a:r>
              <a:rPr lang="en-US" sz="2000" b="1">
                <a:latin typeface="Times New Roman"/>
                <a:cs typeface="Times New Roman"/>
              </a:rPr>
              <a:t>Interface:</a:t>
            </a:r>
            <a:r>
              <a:rPr lang="en-US" sz="2000">
                <a:latin typeface="Times New Roman"/>
                <a:cs typeface="Times New Roman"/>
              </a:rPr>
              <a:t> Web-based visualization of real-time detection and fire spread forecasts.</a:t>
            </a:r>
          </a:p>
          <a:p>
            <a:endParaRPr lang="en-US" sz="1800"/>
          </a:p>
          <a:p>
            <a:pPr marL="0" indent="0">
              <a:buNone/>
            </a:pPr>
            <a:br>
              <a:rPr lang="en-US" sz="1800"/>
            </a:b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55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A628-6BF7-05C0-62FE-15A7A93A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72E99-8463-3EB6-A6B3-51B0452B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System Flowchart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37D53-5EDF-FF84-FF61-753B2BA207D8}"/>
              </a:ext>
            </a:extLst>
          </p:cNvPr>
          <p:cNvSpPr txBox="1"/>
          <p:nvPr/>
        </p:nvSpPr>
        <p:spPr>
          <a:xfrm>
            <a:off x="3674533" y="599157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i="1">
                <a:latin typeface="Times New Roman"/>
              </a:rPr>
              <a:t>[ </a:t>
            </a:r>
            <a:r>
              <a:rPr lang="en-GB" sz="1800" b="1" i="1" baseline="0">
                <a:latin typeface="Times New Roman"/>
              </a:rPr>
              <a:t>Figure </a:t>
            </a:r>
            <a:r>
              <a:rPr lang="en-GB" b="1" i="1">
                <a:latin typeface="Times New Roman"/>
              </a:rPr>
              <a:t>6</a:t>
            </a:r>
            <a:r>
              <a:rPr lang="en-GB" sz="1800" b="1" i="1" baseline="0">
                <a:latin typeface="Times New Roman"/>
              </a:rPr>
              <a:t> : System </a:t>
            </a:r>
            <a:r>
              <a:rPr lang="en-GB" b="1" i="1">
                <a:latin typeface="Times New Roman"/>
              </a:rPr>
              <a:t>Workflow</a:t>
            </a:r>
            <a:r>
              <a:rPr lang="en-GB" sz="1800" b="1" i="1" baseline="0">
                <a:latin typeface="Times New Roman"/>
              </a:rPr>
              <a:t>  - " Flowchart"</a:t>
            </a:r>
            <a:r>
              <a:rPr lang="en-GB" b="1" i="1">
                <a:latin typeface="Times New Roman"/>
              </a:rPr>
              <a:t> ]</a:t>
            </a:r>
            <a:endParaRPr lang="en-GB"/>
          </a:p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F206A7-3806-B94C-CE08-3BE8EB6A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5"/>
          <a:stretch>
            <a:fillRect/>
          </a:stretch>
        </p:blipFill>
        <p:spPr>
          <a:xfrm>
            <a:off x="780288" y="1025186"/>
            <a:ext cx="11045905" cy="480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2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C43ECF-7D8C-7CCA-9F07-5D6FB1CCEB30}"/>
              </a:ext>
            </a:extLst>
          </p:cNvPr>
          <p:cNvSpPr txBox="1"/>
          <p:nvPr/>
        </p:nvSpPr>
        <p:spPr>
          <a:xfrm>
            <a:off x="379896" y="874643"/>
            <a:ext cx="11459559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200" b="1">
                <a:latin typeface="Times New Roman"/>
                <a:cs typeface="Segoe UI"/>
              </a:rPr>
              <a:t>7.1. Location : </a:t>
            </a:r>
            <a:r>
              <a:rPr lang="en-US" sz="2000" err="1">
                <a:latin typeface="Times New Roman"/>
                <a:cs typeface="Times New Roman"/>
              </a:rPr>
              <a:t>Surkhet</a:t>
            </a:r>
            <a:r>
              <a:rPr lang="en-US" sz="2000">
                <a:latin typeface="Times New Roman"/>
                <a:cs typeface="Times New Roman"/>
              </a:rPr>
              <a:t>, Banke, Bardiya, Dang, </a:t>
            </a:r>
            <a:r>
              <a:rPr lang="en-US" sz="2000" err="1">
                <a:latin typeface="Times New Roman"/>
                <a:cs typeface="Times New Roman"/>
              </a:rPr>
              <a:t>Salyan</a:t>
            </a:r>
            <a:endParaRPr lang="en-US" sz="2000">
              <a:latin typeface="Times New Roman"/>
              <a:cs typeface="Times New Roman"/>
            </a:endParaRPr>
          </a:p>
          <a:p>
            <a:pPr marL="342900"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High Fire Frequency (Hotspots):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</a:t>
            </a:r>
            <a:r>
              <a:rPr lang="en-GB" sz="2000">
                <a:latin typeface="Times New Roman"/>
                <a:ea typeface="Calibri"/>
                <a:cs typeface="Times New Roman"/>
              </a:rPr>
              <a:t>Records of the </a:t>
            </a:r>
            <a:r>
              <a:rPr lang="en-GB" sz="2000" b="1">
                <a:solidFill>
                  <a:srgbClr val="7030A0"/>
                </a:solidFill>
                <a:latin typeface="Times New Roman"/>
                <a:ea typeface="Calibri"/>
                <a:cs typeface="Times New Roman"/>
              </a:rPr>
              <a:t>highest numbers of "fire alerts"</a:t>
            </a:r>
            <a:r>
              <a:rPr lang="en-GB" sz="2000">
                <a:latin typeface="Times New Roman"/>
                <a:ea typeface="Calibri"/>
                <a:cs typeface="Times New Roman"/>
              </a:rPr>
              <a:t> every year.</a:t>
            </a:r>
            <a:endParaRPr lang="en-GB" sz="2000" b="1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pPr marL="342900"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Wildlife &amp; Biodiversity Risk:</a:t>
            </a:r>
            <a:r>
              <a:rPr lang="en-GB" sz="2000">
                <a:latin typeface="Times New Roman"/>
                <a:ea typeface="+mn-lt"/>
                <a:cs typeface="Times New Roman"/>
              </a:rPr>
              <a:t> </a:t>
            </a:r>
            <a:r>
              <a:rPr lang="en-GB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Bardiya and Banke National Parks.</a:t>
            </a:r>
            <a:endParaRPr lang="en-GB" sz="2000" b="1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pPr marL="342900"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GB" sz="2000" b="1">
                <a:latin typeface="Times New Roman"/>
                <a:ea typeface="Calibri"/>
                <a:cs typeface="Times New Roman"/>
              </a:rPr>
              <a:t>Difficult Geography: </a:t>
            </a:r>
            <a:r>
              <a:rPr lang="en-GB" sz="2000">
                <a:latin typeface="Times New Roman"/>
                <a:ea typeface="Calibri"/>
                <a:cs typeface="Times New Roman"/>
              </a:rPr>
              <a:t>Steep slopes in </a:t>
            </a:r>
            <a:r>
              <a:rPr lang="en-GB" sz="2000" err="1">
                <a:latin typeface="Times New Roman"/>
                <a:ea typeface="Calibri"/>
                <a:cs typeface="Times New Roman"/>
              </a:rPr>
              <a:t>Surkhet</a:t>
            </a:r>
            <a:r>
              <a:rPr lang="en-GB" sz="2000">
                <a:latin typeface="Times New Roman"/>
                <a:ea typeface="Calibri"/>
                <a:cs typeface="Times New Roman"/>
              </a:rPr>
              <a:t> and </a:t>
            </a:r>
            <a:r>
              <a:rPr lang="en-GB" sz="2000" err="1">
                <a:latin typeface="Times New Roman"/>
                <a:ea typeface="Calibri"/>
                <a:cs typeface="Times New Roman"/>
              </a:rPr>
              <a:t>Salyan</a:t>
            </a:r>
            <a:r>
              <a:rPr lang="en-GB" sz="2000">
                <a:latin typeface="Times New Roman"/>
                <a:ea typeface="Calibri"/>
                <a:cs typeface="Times New Roman"/>
              </a:rPr>
              <a:t> cause fires to</a:t>
            </a:r>
          </a:p>
          <a:p>
            <a:pPr marL="342900" algn="just">
              <a:spcBef>
                <a:spcPts val="600"/>
              </a:spcBef>
              <a:spcAft>
                <a:spcPts val="600"/>
              </a:spcAft>
            </a:pPr>
            <a:r>
              <a:rPr lang="en-GB" sz="2000">
                <a:latin typeface="Times New Roman"/>
                <a:ea typeface="Calibri"/>
                <a:cs typeface="Times New Roman"/>
              </a:rPr>
              <a:t> </a:t>
            </a:r>
            <a:r>
              <a:rPr lang="en-GB" sz="2000" b="1">
                <a:solidFill>
                  <a:srgbClr val="7030A0"/>
                </a:solidFill>
                <a:latin typeface="Times New Roman"/>
                <a:ea typeface="Calibri"/>
                <a:cs typeface="Times New Roman"/>
              </a:rPr>
              <a:t>move uphill at extreme  speeds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</a:t>
            </a:r>
            <a:r>
              <a:rPr lang="en-GB" sz="2000">
                <a:latin typeface="Times New Roman"/>
                <a:ea typeface="Calibri"/>
                <a:cs typeface="Times New Roman"/>
              </a:rPr>
              <a:t> - </a:t>
            </a:r>
            <a:r>
              <a:rPr lang="en-GB" sz="2000" b="1">
                <a:solidFill>
                  <a:srgbClr val="7030A0"/>
                </a:solidFill>
                <a:latin typeface="Times New Roman"/>
                <a:ea typeface="Calibri"/>
                <a:cs typeface="Times New Roman"/>
              </a:rPr>
              <a:t>" Chimney Effect ".</a:t>
            </a:r>
            <a:endParaRPr lang="en-GB">
              <a:ea typeface="Calibri"/>
              <a:cs typeface="Calibri"/>
            </a:endParaRPr>
          </a:p>
          <a:p>
            <a:pPr marL="342900"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Extreme Climate &amp; Fuel:</a:t>
            </a:r>
            <a:r>
              <a:rPr lang="en-GB" sz="2000">
                <a:latin typeface="Times New Roman"/>
                <a:ea typeface="+mn-lt"/>
                <a:cs typeface="Times New Roman"/>
              </a:rPr>
              <a:t> High temperatures </a:t>
            </a:r>
          </a:p>
          <a:p>
            <a:pPr marL="342900" algn="just">
              <a:spcBef>
                <a:spcPts val="600"/>
              </a:spcBef>
              <a:spcAft>
                <a:spcPts val="600"/>
              </a:spcAft>
            </a:pPr>
            <a:r>
              <a:rPr lang="en-GB" sz="2000">
                <a:latin typeface="Times New Roman"/>
                <a:ea typeface="+mn-lt"/>
                <a:cs typeface="Times New Roman"/>
              </a:rPr>
              <a:t>(40°C+) In Dang and Banke turn </a:t>
            </a:r>
            <a:endParaRPr lang="en-GB">
              <a:latin typeface="Calibri"/>
              <a:ea typeface="+mn-lt"/>
              <a:cs typeface="Calibri"/>
            </a:endParaRPr>
          </a:p>
          <a:p>
            <a:pPr marL="342900" algn="just">
              <a:spcBef>
                <a:spcPts val="600"/>
              </a:spcBef>
              <a:spcAft>
                <a:spcPts val="600"/>
              </a:spcAft>
            </a:pPr>
            <a:r>
              <a:rPr lang="en-GB" sz="2000">
                <a:latin typeface="Times New Roman"/>
                <a:ea typeface="+mn-lt"/>
                <a:cs typeface="Times New Roman"/>
              </a:rPr>
              <a:t>dense Sal leaf litter into a</a:t>
            </a:r>
            <a:r>
              <a:rPr lang="en-GB" sz="2000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GB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highly</a:t>
            </a:r>
            <a:endParaRPr lang="en-GB">
              <a:solidFill>
                <a:srgbClr val="000000"/>
              </a:solidFill>
              <a:latin typeface="Calibri"/>
              <a:ea typeface="+mn-lt"/>
              <a:cs typeface="Calibri"/>
            </a:endParaRPr>
          </a:p>
          <a:p>
            <a:pPr marL="342900" algn="just">
              <a:spcBef>
                <a:spcPts val="600"/>
              </a:spcBef>
              <a:spcAft>
                <a:spcPts val="600"/>
              </a:spcAft>
            </a:pPr>
            <a:r>
              <a:rPr lang="en-GB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 flammable natural tinderbox.</a:t>
            </a:r>
            <a:endParaRPr lang="en-GB">
              <a:ea typeface="Calibri"/>
              <a:cs typeface="Calibri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GB">
              <a:latin typeface="Calibri"/>
              <a:ea typeface="Calibri"/>
              <a:cs typeface="Calibri"/>
            </a:endParaRP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772F0F-D2AE-1A3F-301B-4BB669FA2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03" t="44413" r="30219" b="30095"/>
          <a:stretch>
            <a:fillRect/>
          </a:stretch>
        </p:blipFill>
        <p:spPr>
          <a:xfrm>
            <a:off x="5165037" y="3938771"/>
            <a:ext cx="7011379" cy="250875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753E209-057F-A7F7-F67B-2244F8B63BFF}"/>
              </a:ext>
            </a:extLst>
          </p:cNvPr>
          <p:cNvSpPr txBox="1"/>
          <p:nvPr/>
        </p:nvSpPr>
        <p:spPr>
          <a:xfrm>
            <a:off x="6211957" y="3351695"/>
            <a:ext cx="653773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Times New Roman"/>
              </a:rPr>
              <a:t>           </a:t>
            </a:r>
            <a:r>
              <a:rPr lang="en-GB" sz="1800" baseline="0">
                <a:latin typeface="Times New Roman"/>
              </a:rPr>
              <a:t>[ Table no 5.a :</a:t>
            </a:r>
            <a:r>
              <a:rPr lang="en-GB">
                <a:latin typeface="Times New Roman"/>
              </a:rPr>
              <a:t> Forest Area distribution per district ]</a:t>
            </a:r>
            <a:endParaRPr lang="en-GB">
              <a:latin typeface="Times New Roman"/>
              <a:ea typeface="Calibri"/>
              <a:cs typeface="Times New Roman"/>
            </a:endParaRPr>
          </a:p>
          <a:p>
            <a:r>
              <a:rPr lang="en-GB" i="1">
                <a:solidFill>
                  <a:srgbClr val="00B050"/>
                </a:solidFill>
                <a:latin typeface="Times New Roman"/>
              </a:rPr>
              <a:t>[ Source :</a:t>
            </a:r>
            <a:r>
              <a:rPr lang="en-GB" i="1">
                <a:solidFill>
                  <a:srgbClr val="00B050"/>
                </a:solidFill>
                <a:latin typeface="Times New Roman"/>
                <a:ea typeface="+mn-lt"/>
                <a:cs typeface="Times New Roman"/>
              </a:rPr>
              <a:t>Department of Forest Research and Survey</a:t>
            </a:r>
            <a:r>
              <a:rPr lang="en-GB" i="1">
                <a:solidFill>
                  <a:srgbClr val="00B050"/>
                </a:solidFill>
                <a:latin typeface="Times New Roman"/>
                <a:ea typeface="Calibri"/>
                <a:cs typeface="Times New Roman"/>
              </a:rPr>
              <a:t>, Nepal ]</a:t>
            </a:r>
            <a:endParaRPr lang="en-GB">
              <a:latin typeface="Times New Roman"/>
              <a:ea typeface="Calibri"/>
              <a:cs typeface="Times New Roman"/>
            </a:endParaRP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610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D8649-3915-E701-BCC1-B65CDAA6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the country&#10;&#10;AI-generated content may be incorrect.">
            <a:extLst>
              <a:ext uri="{FF2B5EF4-FFF2-40B4-BE49-F238E27FC236}">
                <a16:creationId xmlns:a16="http://schemas.microsoft.com/office/drawing/2014/main" id="{258F4846-9AA5-CF2A-E465-7026A18C7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307" t="10714" r="9440" b="7531"/>
          <a:stretch>
            <a:fillRect/>
          </a:stretch>
        </p:blipFill>
        <p:spPr>
          <a:xfrm>
            <a:off x="9786431" y="682814"/>
            <a:ext cx="2226132" cy="19246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72F631-E749-8AE4-4995-4E3CDB95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pic>
        <p:nvPicPr>
          <p:cNvPr id="10" name="Picture 9" descr="A screenshot of a map&#10;&#10;AI-generated content may be incorrect.">
            <a:extLst>
              <a:ext uri="{FF2B5EF4-FFF2-40B4-BE49-F238E27FC236}">
                <a16:creationId xmlns:a16="http://schemas.microsoft.com/office/drawing/2014/main" id="{246BC603-7408-17DA-A259-2BD5DF727E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00" t="8078" r="16141" b="7530"/>
          <a:stretch>
            <a:fillRect/>
          </a:stretch>
        </p:blipFill>
        <p:spPr>
          <a:xfrm>
            <a:off x="7154758" y="2534627"/>
            <a:ext cx="4701518" cy="33098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E3CB60-BD2B-A872-DAE5-C35C1A653636}"/>
              </a:ext>
            </a:extLst>
          </p:cNvPr>
          <p:cNvSpPr txBox="1"/>
          <p:nvPr/>
        </p:nvSpPr>
        <p:spPr>
          <a:xfrm>
            <a:off x="362582" y="981836"/>
            <a:ext cx="6789398" cy="7940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200" b="1">
                <a:latin typeface="Times New Roman"/>
                <a:ea typeface="Calibri"/>
                <a:cs typeface="Segoe UI"/>
              </a:rPr>
              <a:t>7.2. Spatial Analysis &amp; Zone </a:t>
            </a:r>
            <a:r>
              <a:rPr lang="en-US" sz="2200" b="1" err="1">
                <a:latin typeface="Times New Roman"/>
                <a:ea typeface="Calibri"/>
                <a:cs typeface="Segoe UI"/>
              </a:rPr>
              <a:t>Divison</a:t>
            </a:r>
            <a:endParaRPr lang="en-US" sz="2200" b="1" baseline="0">
              <a:latin typeface="Times New Roman"/>
              <a:ea typeface="Calibri"/>
              <a:cs typeface="Segoe UI"/>
            </a:endParaRPr>
          </a:p>
          <a:p>
            <a:pPr algn="just"/>
            <a:r>
              <a:rPr lang="en-US" sz="2000" b="1">
                <a:latin typeface="Times New Roman"/>
                <a:ea typeface="Calibri"/>
                <a:cs typeface="Times New Roman"/>
              </a:rPr>
              <a:t> Tools Used :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QGIS , Python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Spatial Analysis: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>
                <a:latin typeface="Times New Roman"/>
                <a:ea typeface="+mn-lt"/>
                <a:cs typeface="Times New Roman"/>
              </a:rPr>
              <a:t>converts vague district borders into                            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precise 'action zones',</a:t>
            </a:r>
            <a:r>
              <a:rPr lang="en-US" sz="2000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000">
                <a:latin typeface="Times New Roman"/>
                <a:ea typeface="+mn-lt"/>
                <a:cs typeface="Times New Roman"/>
              </a:rPr>
              <a:t>used to 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calculate the exact area pinpoint exact location.</a:t>
            </a:r>
            <a:endParaRPr lang="en-US" sz="2000" b="1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Zone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Divison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: </a:t>
            </a:r>
            <a:r>
              <a:rPr lang="en-US" sz="2000">
                <a:latin typeface="Times New Roman"/>
                <a:ea typeface="Calibri"/>
                <a:cs typeface="Times New Roman"/>
              </a:rPr>
              <a:t>Transforms</a:t>
            </a:r>
            <a:r>
              <a:rPr lang="en-US" sz="2000">
                <a:latin typeface="Times New Roman"/>
                <a:ea typeface="+mn-lt"/>
                <a:cs typeface="Times New Roman"/>
              </a:rPr>
              <a:t> diverse administrative areas into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standardized "data pixels,"</a:t>
            </a:r>
            <a:r>
              <a:rPr lang="en-US" sz="2000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000">
                <a:latin typeface="Times New Roman"/>
                <a:ea typeface="+mn-lt"/>
                <a:cs typeface="Times New Roman"/>
              </a:rPr>
              <a:t>used to</a:t>
            </a:r>
            <a:r>
              <a:rPr lang="en-US" sz="2000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pinpoint localized fire risks and calculate precise fire density.</a:t>
            </a:r>
            <a:endParaRPr lang="en-US" sz="2000" b="1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        Logic Used: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Grid-Based Spatial Partitioning</a:t>
            </a:r>
          </a:p>
          <a:p>
            <a:pPr marL="800100" indent="-457200" algn="just">
              <a:spcBef>
                <a:spcPts val="300"/>
              </a:spcBef>
              <a:spcAft>
                <a:spcPts val="300"/>
              </a:spcAft>
              <a:buAutoNum type="romanLcPeriod"/>
            </a:pPr>
            <a:r>
              <a:rPr lang="en-US" sz="2000">
                <a:latin typeface="Times New Roman"/>
                <a:ea typeface="Calibri"/>
                <a:cs typeface="Times New Roman"/>
              </a:rPr>
              <a:t>Banke - 14 zones </a:t>
            </a:r>
          </a:p>
          <a:p>
            <a:pPr marL="342900" algn="just">
              <a:spcBef>
                <a:spcPts val="300"/>
              </a:spcBef>
              <a:spcAft>
                <a:spcPts val="300"/>
              </a:spcAft>
              <a:buAutoNum type="romanLcPeriod"/>
            </a:pPr>
            <a:r>
              <a:rPr lang="en-US" sz="2000">
                <a:latin typeface="Times New Roman"/>
                <a:ea typeface="Calibri"/>
                <a:cs typeface="Times New Roman"/>
              </a:rPr>
              <a:t>    Bardiya - 15 zones</a:t>
            </a:r>
          </a:p>
          <a:p>
            <a:pPr marL="342900" algn="just">
              <a:spcBef>
                <a:spcPts val="300"/>
              </a:spcBef>
              <a:spcAft>
                <a:spcPts val="300"/>
              </a:spcAft>
              <a:buAutoNum type="romanLcPeriod"/>
            </a:pPr>
            <a:r>
              <a:rPr lang="en-US" sz="2000">
                <a:latin typeface="Times New Roman"/>
                <a:ea typeface="Calibri"/>
                <a:cs typeface="Times New Roman"/>
              </a:rPr>
              <a:t>  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Surkhet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- 19 zones </a:t>
            </a:r>
          </a:p>
          <a:p>
            <a:pPr marL="342900" algn="just">
              <a:spcBef>
                <a:spcPts val="300"/>
              </a:spcBef>
              <a:spcAft>
                <a:spcPts val="300"/>
              </a:spcAft>
              <a:buAutoNum type="romanLcPeriod"/>
            </a:pPr>
            <a:r>
              <a:rPr lang="en-US" sz="2000">
                <a:latin typeface="Times New Roman"/>
                <a:ea typeface="Calibri"/>
                <a:cs typeface="Times New Roman"/>
              </a:rPr>
              <a:t>    Dang - 17 zones </a:t>
            </a:r>
          </a:p>
          <a:p>
            <a:pPr marL="342900" algn="just">
              <a:spcBef>
                <a:spcPts val="300"/>
              </a:spcBef>
              <a:spcAft>
                <a:spcPts val="300"/>
              </a:spcAft>
              <a:buFontTx/>
              <a:buAutoNum type="romanLcPeriod"/>
            </a:pPr>
            <a:r>
              <a:rPr lang="en-US" sz="2000">
                <a:latin typeface="Times New Roman"/>
                <a:ea typeface="Calibri"/>
                <a:cs typeface="Times New Roman"/>
              </a:rPr>
              <a:t>    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Salyan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- 14 zones  </a:t>
            </a:r>
            <a:endParaRPr lang="en-US">
              <a:ea typeface="Calibri"/>
              <a:cs typeface="Calibri"/>
            </a:endParaRPr>
          </a:p>
          <a:p>
            <a:pPr algn="just">
              <a:buFont typeface="Arial"/>
            </a:pPr>
            <a:endParaRPr lang="en-US" sz="2000">
              <a:ea typeface="Calibri"/>
              <a:cs typeface="Calibri"/>
            </a:endParaRPr>
          </a:p>
          <a:p>
            <a:pPr algn="just">
              <a:buFont typeface="Arial"/>
            </a:pPr>
            <a:endParaRPr lang="en-US" sz="2000">
              <a:ea typeface="Calibri"/>
              <a:cs typeface="Calibri"/>
            </a:endParaRPr>
          </a:p>
          <a:p>
            <a:pPr algn="just">
              <a:buFont typeface="Arial"/>
            </a:pPr>
            <a:endParaRPr lang="en-US">
              <a:ea typeface="Calibri"/>
              <a:cs typeface="Calibri"/>
            </a:endParaRPr>
          </a:p>
          <a:p>
            <a:pPr algn="just"/>
            <a:br>
              <a:rPr lang="en-US"/>
            </a:br>
            <a:endParaRPr lang="en-US">
              <a:ea typeface="Calibri"/>
              <a:cs typeface="Calibri"/>
            </a:endParaRPr>
          </a:p>
          <a:p>
            <a:pPr algn="just"/>
            <a:br>
              <a:rPr lang="en-US"/>
            </a:br>
            <a:endParaRPr lang="en-US"/>
          </a:p>
          <a:p>
            <a:pPr algn="just"/>
            <a:endParaRPr lang="en-US" sz="2000">
              <a:latin typeface="Times New Roman"/>
              <a:ea typeface="Calibri"/>
              <a:cs typeface="Segoe UI"/>
            </a:endParaRPr>
          </a:p>
          <a:p>
            <a:pPr algn="ctr"/>
            <a:endParaRPr lang="en-GB">
              <a:latin typeface="Calibri"/>
              <a:ea typeface="Calibri"/>
              <a:cs typeface="Calibri"/>
            </a:endParaRPr>
          </a:p>
        </p:txBody>
      </p:sp>
      <p:pic>
        <p:nvPicPr>
          <p:cNvPr id="8" name="Picture 7" descr="A green and orange pencil in a circle&#10;&#10;AI-generated content may be incorrect.">
            <a:extLst>
              <a:ext uri="{FF2B5EF4-FFF2-40B4-BE49-F238E27FC236}">
                <a16:creationId xmlns:a16="http://schemas.microsoft.com/office/drawing/2014/main" id="{C1D7FD2A-E24D-D247-2C6D-563B3E0A4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1837" y="1613054"/>
            <a:ext cx="789367" cy="776564"/>
          </a:xfrm>
          <a:prstGeom prst="rect">
            <a:avLst/>
          </a:prstGeom>
        </p:spPr>
      </p:pic>
      <p:pic>
        <p:nvPicPr>
          <p:cNvPr id="9" name="Picture 8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75FE5349-71DA-6365-972C-507FA0EF4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8620" y="982500"/>
            <a:ext cx="890596" cy="8905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E9BA6D-453F-436F-C1BC-F27FB3BEA3C7}"/>
              </a:ext>
            </a:extLst>
          </p:cNvPr>
          <p:cNvSpPr txBox="1"/>
          <p:nvPr/>
        </p:nvSpPr>
        <p:spPr>
          <a:xfrm>
            <a:off x="7224000" y="5853000"/>
            <a:ext cx="957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 i="1" baseline="0">
                <a:latin typeface="Times New Roman"/>
                <a:ea typeface="Segoe UI"/>
                <a:cs typeface="Times New Roman"/>
              </a:rPr>
              <a:t> [ </a:t>
            </a:r>
            <a:r>
              <a:rPr lang="en-GB" b="1" i="1">
                <a:latin typeface="Times New Roman"/>
                <a:ea typeface="Segoe UI"/>
                <a:cs typeface="Times New Roman"/>
              </a:rPr>
              <a:t>Figure</a:t>
            </a:r>
            <a:r>
              <a:rPr lang="en-GB" sz="1800" b="1" i="1" baseline="0">
                <a:latin typeface="Times New Roman"/>
                <a:ea typeface="Segoe UI"/>
                <a:cs typeface="Times New Roman"/>
              </a:rPr>
              <a:t> :</a:t>
            </a:r>
            <a:r>
              <a:rPr lang="en-GB" b="1" i="1">
                <a:solidFill>
                  <a:srgbClr val="7030A0"/>
                </a:solidFill>
                <a:latin typeface="Times New Roman"/>
                <a:ea typeface="Segoe UI"/>
                <a:cs typeface="Times New Roman"/>
              </a:rPr>
              <a:t> Spatial Analysis</a:t>
            </a:r>
            <a:r>
              <a:rPr lang="en-GB" b="1" i="1">
                <a:latin typeface="Times New Roman"/>
                <a:ea typeface="Segoe UI"/>
                <a:cs typeface="Times New Roman"/>
              </a:rPr>
              <a:t> and </a:t>
            </a:r>
            <a:r>
              <a:rPr lang="en-GB" b="1" i="1">
                <a:solidFill>
                  <a:srgbClr val="7030A0"/>
                </a:solidFill>
                <a:latin typeface="Times New Roman"/>
                <a:ea typeface="Segoe UI"/>
                <a:cs typeface="Times New Roman"/>
              </a:rPr>
              <a:t>Zonal Distribution</a:t>
            </a:r>
            <a:endParaRPr lang="en-GB" b="1" i="1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GB" b="1" i="1">
                <a:latin typeface="Times New Roman"/>
                <a:ea typeface="Segoe UI"/>
                <a:cs typeface="Times New Roman"/>
              </a:rPr>
              <a:t> of District with partitioning ]</a:t>
            </a:r>
            <a:endParaRPr lang="en-GB" b="1" i="1">
              <a:latin typeface="Times New Roman"/>
              <a:ea typeface="Calibri"/>
              <a:cs typeface="Times New Roman"/>
            </a:endParaRPr>
          </a:p>
          <a:p>
            <a:pPr algn="ctr" rtl="0"/>
            <a:endParaRPr lang="en-GB" sz="180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0471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7196-4058-7153-8A09-41BC2BB1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869B-04FA-D173-159D-E2B0D16F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2F0B8-BDC0-8B74-CCB2-99C7C4797905}"/>
              </a:ext>
            </a:extLst>
          </p:cNvPr>
          <p:cNvSpPr txBox="1"/>
          <p:nvPr/>
        </p:nvSpPr>
        <p:spPr>
          <a:xfrm>
            <a:off x="380582" y="1017836"/>
            <a:ext cx="6789398" cy="30469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7.3. Data Collection &amp; Pre-Processing : </a:t>
            </a:r>
            <a:endParaRPr lang="en-US" b="1">
              <a:latin typeface="Times New Roman"/>
              <a:cs typeface="Times New Roman"/>
            </a:endParaRPr>
          </a:p>
          <a:p>
            <a:pPr algn="just">
              <a:buFont typeface="Arial"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Source :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Google Earth Engine</a:t>
            </a:r>
            <a:endParaRPr lang="en-US" sz="2000">
              <a:latin typeface="Times New Roman"/>
              <a:cs typeface="Times New Roman"/>
            </a:endParaRPr>
          </a:p>
          <a:p>
            <a:pPr algn="just">
              <a:buFont typeface="Arial"/>
            </a:pPr>
            <a:endParaRPr lang="en-US" sz="2000">
              <a:ea typeface="Calibri"/>
              <a:cs typeface="Calibri"/>
            </a:endParaRPr>
          </a:p>
          <a:p>
            <a:pPr algn="just">
              <a:buFont typeface="Arial"/>
            </a:pPr>
            <a:endParaRPr lang="en-US">
              <a:ea typeface="Calibri"/>
              <a:cs typeface="Calibri"/>
            </a:endParaRPr>
          </a:p>
          <a:p>
            <a:pPr algn="just"/>
            <a:br>
              <a:rPr lang="en-US"/>
            </a:br>
            <a:endParaRPr lang="en-US">
              <a:ea typeface="Calibri"/>
              <a:cs typeface="Calibri"/>
            </a:endParaRPr>
          </a:p>
          <a:p>
            <a:pPr algn="just"/>
            <a:br>
              <a:rPr lang="en-US"/>
            </a:br>
            <a:endParaRPr lang="en-US"/>
          </a:p>
          <a:p>
            <a:pPr algn="just"/>
            <a:endParaRPr lang="en-US" sz="2000">
              <a:latin typeface="Times New Roman"/>
              <a:ea typeface="Calibri"/>
              <a:cs typeface="Segoe UI"/>
            </a:endParaRPr>
          </a:p>
          <a:p>
            <a:pPr algn="ctr"/>
            <a:endParaRPr lang="en-GB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43C3CB-FBBE-2123-A2C8-27C46EB5D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43729"/>
              </p:ext>
            </p:extLst>
          </p:nvPr>
        </p:nvGraphicFramePr>
        <p:xfrm>
          <a:off x="383644" y="2316045"/>
          <a:ext cx="11432617" cy="410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">
                  <a:extLst>
                    <a:ext uri="{9D8B030D-6E8A-4147-A177-3AD203B41FA5}">
                      <a16:colId xmlns:a16="http://schemas.microsoft.com/office/drawing/2014/main" val="1548935618"/>
                    </a:ext>
                  </a:extLst>
                </a:gridCol>
                <a:gridCol w="2084661">
                  <a:extLst>
                    <a:ext uri="{9D8B030D-6E8A-4147-A177-3AD203B41FA5}">
                      <a16:colId xmlns:a16="http://schemas.microsoft.com/office/drawing/2014/main" val="1317358940"/>
                    </a:ext>
                  </a:extLst>
                </a:gridCol>
                <a:gridCol w="4500664">
                  <a:extLst>
                    <a:ext uri="{9D8B030D-6E8A-4147-A177-3AD203B41FA5}">
                      <a16:colId xmlns:a16="http://schemas.microsoft.com/office/drawing/2014/main" val="293504824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853084170"/>
                    </a:ext>
                  </a:extLst>
                </a:gridCol>
                <a:gridCol w="2360124">
                  <a:extLst>
                    <a:ext uri="{9D8B030D-6E8A-4147-A177-3AD203B41FA5}">
                      <a16:colId xmlns:a16="http://schemas.microsoft.com/office/drawing/2014/main" val="297716769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SN.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Dataset Link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Data layers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Satellite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>
                          <a:latin typeface="Times New Roman"/>
                          <a:cs typeface="Times New Roman"/>
                        </a:rPr>
                        <a:t>Revisit Frequency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020170"/>
                  </a:ext>
                </a:extLst>
              </a:tr>
              <a:tr h="1463039"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1.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Mod14a1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Bands : fire mask ( 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7: Fire (low confidence, land or water) 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8: Fire (nominal confidence, land or water)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9: Fire (high confidence, land or water))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Terra</a:t>
                      </a:r>
                      <a:endParaRPr lang="en-GB" sz="1800" b="1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Daily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(Twice a day: Day &amp; Night)</a:t>
                      </a:r>
                    </a:p>
                    <a:p>
                      <a:pPr lvl="0">
                        <a:buNone/>
                      </a:pPr>
                      <a:endParaRPr lang="en-GB" sz="1800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469705"/>
                  </a:ext>
                </a:extLst>
              </a:tr>
              <a:tr h="1060704"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2.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err="1">
                          <a:latin typeface="Times New Roman"/>
                          <a:ea typeface="Calibri"/>
                          <a:cs typeface="Times New Roman"/>
                        </a:rPr>
                        <a:t>Sential</a:t>
                      </a: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 ( La2)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Bands : (B2, B3, B4, B8, B11, B12) 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masking : SCL / MSK_CLDPRB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Sentinel-2A &amp; 2B</a:t>
                      </a:r>
                      <a:endParaRPr lang="en-GB" sz="1800" b="0" i="0" u="none" strike="noStrike" noProof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5 Days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(Combined constellation)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07134"/>
                  </a:ext>
                </a:extLst>
              </a:tr>
              <a:tr h="938784"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3.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USGS Landsat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Bands : (B2, B3, B4, B8, B11, B12)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Landsat 8 &amp; 98 Days</a:t>
                      </a:r>
                      <a:r>
                        <a:rPr lang="en-GB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en-GB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8 Days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(Combined)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 16 days each</a:t>
                      </a:r>
                    </a:p>
                    <a:p>
                      <a:pPr lvl="0">
                        <a:buNone/>
                      </a:pPr>
                      <a:endParaRPr lang="en-GB" sz="1800" b="0" i="0" u="none" strike="noStrike" noProof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6939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882F665-EAC1-1F32-E31D-883F67612C9F}"/>
              </a:ext>
            </a:extLst>
          </p:cNvPr>
          <p:cNvSpPr txBox="1"/>
          <p:nvPr/>
        </p:nvSpPr>
        <p:spPr>
          <a:xfrm>
            <a:off x="-135467" y="1899356"/>
            <a:ext cx="110800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       [ Table no </a:t>
            </a:r>
            <a:r>
              <a:rPr lang="en-GB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7.3.</a:t>
            </a:r>
            <a:r>
              <a:rPr lang="en-GB" sz="18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a : </a:t>
            </a:r>
            <a:r>
              <a:rPr lang="en-GB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Dataset link with respective data layers and revisit frequencies</a:t>
            </a:r>
            <a:r>
              <a:rPr lang="en-GB" sz="18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 ]</a:t>
            </a:r>
            <a:r>
              <a:rPr lang="en-GB" sz="18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endParaRPr lang="en-GB" sz="1800" b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7402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6B48-B325-FFDE-2DF3-D3FE4A6C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4D70-F96D-E3B3-3DC3-CACB4275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64E3C-D8D2-F64A-EF44-9BD5C163115F}"/>
              </a:ext>
            </a:extLst>
          </p:cNvPr>
          <p:cNvSpPr txBox="1"/>
          <p:nvPr/>
        </p:nvSpPr>
        <p:spPr>
          <a:xfrm>
            <a:off x="488582" y="909836"/>
            <a:ext cx="6789398" cy="270843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/>
            </a:pPr>
            <a:endParaRPr lang="en-US" sz="2200">
              <a:ea typeface="Calibri"/>
              <a:cs typeface="Calibri"/>
            </a:endParaRPr>
          </a:p>
          <a:p>
            <a:pPr algn="just">
              <a:buFont typeface="Arial"/>
            </a:pPr>
            <a:endParaRPr lang="en-US" sz="2000">
              <a:ea typeface="Calibri"/>
              <a:cs typeface="Calibri"/>
            </a:endParaRPr>
          </a:p>
          <a:p>
            <a:pPr algn="just">
              <a:buFont typeface="Arial"/>
            </a:pPr>
            <a:endParaRPr lang="en-US">
              <a:ea typeface="Calibri"/>
              <a:cs typeface="Calibri"/>
            </a:endParaRPr>
          </a:p>
          <a:p>
            <a:pPr algn="just"/>
            <a:br>
              <a:rPr lang="en-US"/>
            </a:br>
            <a:endParaRPr lang="en-US">
              <a:ea typeface="Calibri"/>
              <a:cs typeface="Calibri"/>
            </a:endParaRPr>
          </a:p>
          <a:p>
            <a:pPr algn="just"/>
            <a:br>
              <a:rPr lang="en-US"/>
            </a:br>
            <a:endParaRPr lang="en-US"/>
          </a:p>
          <a:p>
            <a:pPr algn="just"/>
            <a:endParaRPr lang="en-US" sz="2000">
              <a:latin typeface="Times New Roman"/>
              <a:ea typeface="Calibri"/>
              <a:cs typeface="Segoe UI"/>
            </a:endParaRPr>
          </a:p>
          <a:p>
            <a:pPr algn="ctr"/>
            <a:endParaRPr lang="en-GB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6604E2-8CBE-357D-389A-E5D6C7268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155650"/>
              </p:ext>
            </p:extLst>
          </p:nvPr>
        </p:nvGraphicFramePr>
        <p:xfrm>
          <a:off x="378356" y="1406845"/>
          <a:ext cx="11432617" cy="485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">
                  <a:extLst>
                    <a:ext uri="{9D8B030D-6E8A-4147-A177-3AD203B41FA5}">
                      <a16:colId xmlns:a16="http://schemas.microsoft.com/office/drawing/2014/main" val="1548935618"/>
                    </a:ext>
                  </a:extLst>
                </a:gridCol>
                <a:gridCol w="2084661">
                  <a:extLst>
                    <a:ext uri="{9D8B030D-6E8A-4147-A177-3AD203B41FA5}">
                      <a16:colId xmlns:a16="http://schemas.microsoft.com/office/drawing/2014/main" val="1317358940"/>
                    </a:ext>
                  </a:extLst>
                </a:gridCol>
                <a:gridCol w="4500664">
                  <a:extLst>
                    <a:ext uri="{9D8B030D-6E8A-4147-A177-3AD203B41FA5}">
                      <a16:colId xmlns:a16="http://schemas.microsoft.com/office/drawing/2014/main" val="293504824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853084170"/>
                    </a:ext>
                  </a:extLst>
                </a:gridCol>
                <a:gridCol w="2360124">
                  <a:extLst>
                    <a:ext uri="{9D8B030D-6E8A-4147-A177-3AD203B41FA5}">
                      <a16:colId xmlns:a16="http://schemas.microsoft.com/office/drawing/2014/main" val="297716769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SN.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Dataset Link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Data layers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Times New Roman"/>
                          <a:cs typeface="Times New Roman"/>
                        </a:rPr>
                        <a:t>Satellite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>
                          <a:latin typeface="Times New Roman"/>
                          <a:cs typeface="Times New Roman"/>
                        </a:rPr>
                        <a:t>Revisit Frequency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02017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>
                          <a:latin typeface="Times New Roman"/>
                          <a:cs typeface="Times New Roman"/>
                        </a:rPr>
                        <a:t>5.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Times New Roman"/>
                          <a:cs typeface="Times New Roman"/>
                        </a:rPr>
                        <a:t>MODIS - </a:t>
                      </a:r>
                      <a:r>
                        <a:rPr lang="en-GB" sz="1800" b="0" i="0" u="none" strike="noStrike" noProof="0" err="1">
                          <a:latin typeface="Times New Roman"/>
                          <a:cs typeface="Times New Roman"/>
                        </a:rPr>
                        <a:t>Terra+Aqua</a:t>
                      </a:r>
                      <a:r>
                        <a:rPr lang="en-GB" sz="1800" b="0" i="0" u="none" strike="noStrike" noProof="0">
                          <a:latin typeface="Times New Roman"/>
                          <a:cs typeface="Times New Roman"/>
                        </a:rPr>
                        <a:t> LST (Land Surface Temperature)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Bands : LST_Day_1km, LST_Night_1km </a:t>
                      </a:r>
                    </a:p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masking : </a:t>
                      </a:r>
                      <a:r>
                        <a:rPr lang="en-GB" sz="18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QC_Day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(Bits 0-1), </a:t>
                      </a:r>
                      <a:r>
                        <a:rPr lang="en-GB" sz="18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QC_Night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(Bits 0-1), </a:t>
                      </a:r>
                      <a:r>
                        <a:rPr lang="en-GB" sz="18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Clear_day_cov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, </a:t>
                      </a:r>
                      <a:r>
                        <a:rPr lang="en-GB" sz="1800" b="0" i="0" u="none" strike="noStrike" noProof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Clear_night_cov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Terra &amp; Aqua</a:t>
                      </a:r>
                      <a:endParaRPr lang="en-GB" sz="1800" b="0" i="0" u="none" strike="noStrike" noProof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Daily</a:t>
                      </a:r>
                      <a:endParaRPr lang="en-US" sz="1800" b="1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(Up to 4 times per day total)</a:t>
                      </a:r>
                    </a:p>
                    <a:p>
                      <a:pPr lvl="0">
                        <a:buNone/>
                      </a:pPr>
                      <a:endParaRPr lang="en-GB" sz="1800" b="0" i="0" u="none" strike="noStrike" noProof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853508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>
                          <a:latin typeface="Times New Roman"/>
                          <a:cs typeface="Times New Roman"/>
                        </a:rPr>
                        <a:t>6.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SRTM 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Bands : elevation 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Space Shuttle </a:t>
                      </a: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EndeavourStatic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(One-time mission in Feb 2000)</a:t>
                      </a:r>
                    </a:p>
                    <a:p>
                      <a:pPr lvl="0">
                        <a:buNone/>
                      </a:pPr>
                      <a:endParaRPr lang="en-GB" sz="1800" b="0" i="0" u="none" strike="noStrike" noProof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703312"/>
                  </a:ext>
                </a:extLst>
              </a:tr>
              <a:tr h="17800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>
                          <a:latin typeface="Times New Roman"/>
                          <a:cs typeface="Times New Roman"/>
                        </a:rPr>
                        <a:t>7.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Era - 5 Land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Bands : temperature_2m,dewpoint_temperature_2m,skin_temperature, soil_temperature_level_1,volumetric_soil_water_layer_1,total_precipitation_sum,u_component_of_wind_10m,v_component_of_wind_10m,surface_pressure)</a:t>
                      </a:r>
                      <a:endParaRPr lang="en-US" sz="180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ECMWF Model</a:t>
                      </a:r>
                      <a:endParaRPr lang="en-GB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Hourly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(Aggregated to Daily)</a:t>
                      </a:r>
                    </a:p>
                    <a:p>
                      <a:pPr lvl="0">
                        <a:buNone/>
                      </a:pPr>
                      <a:endParaRPr lang="en-GB" sz="1800" b="0" i="0" u="none" strike="noStrike" noProof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3824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B15E999-B433-3C20-2C04-E27329EBA38D}"/>
              </a:ext>
            </a:extLst>
          </p:cNvPr>
          <p:cNvSpPr txBox="1"/>
          <p:nvPr/>
        </p:nvSpPr>
        <p:spPr>
          <a:xfrm>
            <a:off x="252194" y="1070074"/>
            <a:ext cx="97761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aseline="0">
                <a:latin typeface="Times New Roman"/>
              </a:rPr>
              <a:t> [ Table no 7.3.</a:t>
            </a:r>
            <a:r>
              <a:rPr lang="en-GB">
                <a:latin typeface="Times New Roman"/>
              </a:rPr>
              <a:t>b</a:t>
            </a:r>
            <a:r>
              <a:rPr lang="en-GB" sz="1800" baseline="0">
                <a:latin typeface="Times New Roman"/>
              </a:rPr>
              <a:t> : Dataset link with respective data layers and revisit frequencies ]​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45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D1C8-5552-7F3F-2BE0-4AED454A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C2B8-3C77-D486-0F51-51199DB9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531A9C-3886-8C44-096A-D66D701EC780}"/>
              </a:ext>
            </a:extLst>
          </p:cNvPr>
          <p:cNvSpPr txBox="1"/>
          <p:nvPr/>
        </p:nvSpPr>
        <p:spPr>
          <a:xfrm>
            <a:off x="362582" y="981836"/>
            <a:ext cx="11536374" cy="33598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rtl="0">
              <a:lnSpc>
                <a:spcPts val="1875"/>
              </a:lnSpc>
            </a:pPr>
            <a:endParaRPr lang="en-US" sz="2000">
              <a:latin typeface="Times New Roman"/>
              <a:ea typeface="Calibr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61579-BDD3-7181-E3D0-F1ED4D33A759}"/>
              </a:ext>
            </a:extLst>
          </p:cNvPr>
          <p:cNvSpPr txBox="1"/>
          <p:nvPr/>
        </p:nvSpPr>
        <p:spPr>
          <a:xfrm>
            <a:off x="313601" y="979110"/>
            <a:ext cx="11637909" cy="52014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200" b="1">
                <a:latin typeface="Times New Roman"/>
                <a:ea typeface="+mn-lt"/>
                <a:cs typeface="Times New Roman"/>
              </a:rPr>
              <a:t> 7.4 Data Feature Engineering </a:t>
            </a:r>
            <a:endParaRPr lang="en-US" sz="2200" b="1"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Static Features (Terrain) : </a:t>
            </a:r>
            <a:endParaRPr lang="en-US" sz="2000" b="1">
              <a:latin typeface="Times New Roman"/>
              <a:ea typeface="+mn-lt"/>
              <a:cs typeface="Times New Roman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Source:</a:t>
            </a:r>
            <a:r>
              <a:rPr lang="en-GB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 NASA SRTM DEM </a:t>
            </a:r>
            <a:endParaRPr lang="en-US" sz="2000" b="1">
              <a:solidFill>
                <a:srgbClr val="7030A0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GB" sz="2000">
                <a:latin typeface="Times New Roman"/>
                <a:ea typeface="+mn-lt"/>
                <a:cs typeface="Times New Roman"/>
              </a:rPr>
              <a:t>Features: Elevation statistics (mean, p10, p90, std) , Slope metrics , Aspect metrics ,MTPI (topographic position index) 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Spectral Vegetation Indices : </a:t>
            </a:r>
            <a:endParaRPr lang="en-US" sz="2000" b="1">
              <a:latin typeface="Times New Roman"/>
              <a:ea typeface="+mn-lt"/>
              <a:cs typeface="Times New Roman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Source: </a:t>
            </a:r>
            <a:r>
              <a:rPr lang="en-GB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Copernicus Sentinel-2 , USGS Landsat </a:t>
            </a:r>
            <a:endParaRPr lang="en-US" sz="2000" b="1">
              <a:solidFill>
                <a:srgbClr val="7030A0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GB" sz="2000">
                <a:latin typeface="Times New Roman"/>
                <a:ea typeface="+mn-lt"/>
                <a:cs typeface="Times New Roman"/>
              </a:rPr>
              <a:t>Features: NDVI ,GNDVI , NBR , NDWI , EVI , SAVI , Composite NDVI , Vegetation quality flag 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Temporal Lag Engineering: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alibri,Sans-Serif"/>
              <a:buChar char="-"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Features:</a:t>
            </a:r>
            <a:r>
              <a:rPr lang="en-US" sz="2000">
                <a:latin typeface="Times New Roman"/>
                <a:ea typeface="Calibri"/>
                <a:cs typeface="Times New Roman"/>
              </a:rPr>
              <a:t>  NDVI_lag1, lag3, lag7, lag14 ,Precipitation_lag30 , VPD_lag14 , Soil moisture lag , Rolling 30-day rainfall </a:t>
            </a:r>
            <a:endParaRPr lang="en-GB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b="1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2737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D0251-828F-6731-62FC-7652D6BF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C85F-5A08-A796-9CC4-7A1C2364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1D4436-496C-5BA0-B121-9FE9772EA0D4}"/>
              </a:ext>
            </a:extLst>
          </p:cNvPr>
          <p:cNvSpPr txBox="1"/>
          <p:nvPr/>
        </p:nvSpPr>
        <p:spPr>
          <a:xfrm>
            <a:off x="328715" y="885880"/>
            <a:ext cx="11530730" cy="532453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Meteorological Engineering: 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Source:</a:t>
            </a:r>
            <a:r>
              <a:rPr lang="en-GB" sz="2000">
                <a:latin typeface="Times New Roman"/>
                <a:ea typeface="+mn-lt"/>
                <a:cs typeface="Times New Roman"/>
              </a:rPr>
              <a:t> </a:t>
            </a:r>
            <a:r>
              <a:rPr lang="en-GB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ERA5 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Variables: </a:t>
            </a:r>
            <a:r>
              <a:rPr lang="en-GB" sz="2000">
                <a:latin typeface="Times New Roman"/>
                <a:ea typeface="+mn-lt"/>
                <a:cs typeface="Times New Roman"/>
              </a:rPr>
              <a:t>Air temperature, Soil temperature , Soil moisture, Relative humidity, Vapor Pressure Deficit(VPD),Wind speed &amp; direction ,Surface pressure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Temporal Expansion:</a:t>
            </a:r>
            <a:r>
              <a:rPr lang="en-GB" sz="2000">
                <a:latin typeface="Times New Roman"/>
                <a:ea typeface="+mn-lt"/>
                <a:cs typeface="Times New Roman"/>
              </a:rPr>
              <a:t> Lag features (1, 3, 7, 14 days) ,Rolling precipitation sums (7, 14, 30 days)</a:t>
            </a:r>
            <a:endParaRPr lang="en-US">
              <a:ea typeface="Calibri"/>
              <a:cs typeface="Calibri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endParaRPr lang="en-GB" sz="20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b="1">
                <a:solidFill>
                  <a:srgbClr val="7030A0"/>
                </a:solidFill>
                <a:latin typeface="Times New Roman"/>
                <a:ea typeface="Calibri"/>
                <a:cs typeface="Times New Roman"/>
              </a:rPr>
              <a:t>Methods Used :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KNN imputation (LST) </a:t>
            </a:r>
            <a:endParaRPr lang="en-US">
              <a:ea typeface="Calibri"/>
              <a:cs typeface="Calibri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Median imputation (weather)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30-day vegetation interpolation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Feature Quality filtering &amp; Missing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FLags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Memory reduction 55%.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BE920-CD03-37ED-C897-476A6E780174}"/>
              </a:ext>
            </a:extLst>
          </p:cNvPr>
          <p:cNvSpPr txBox="1"/>
          <p:nvPr/>
        </p:nvSpPr>
        <p:spPr>
          <a:xfrm>
            <a:off x="8229375" y="3220946"/>
            <a:ext cx="4535424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 i="1" u="sng">
                <a:solidFill>
                  <a:srgbClr val="7030A0"/>
                </a:solidFill>
                <a:latin typeface="Times New Roman"/>
                <a:ea typeface="Calibri"/>
                <a:cs typeface="Times New Roman"/>
              </a:rPr>
              <a:t>Master Table Formation</a:t>
            </a:r>
          </a:p>
          <a:p>
            <a:pPr algn="just"/>
            <a:endParaRPr lang="en-US" sz="20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ea typeface="Calibri"/>
                <a:cs typeface="Times New Roman"/>
              </a:rPr>
              <a:t>Range : 2000 – 2025</a:t>
            </a:r>
            <a:endParaRPr lang="en-US">
              <a:latin typeface="Calibri"/>
              <a:ea typeface="Calibri"/>
              <a:cs typeface="Calibri"/>
            </a:endParaRPr>
          </a:p>
          <a:p>
            <a:pPr algn="just"/>
            <a:r>
              <a:rPr lang="en-US" sz="2000">
                <a:latin typeface="Times New Roman"/>
                <a:ea typeface="Calibri"/>
                <a:cs typeface="Times New Roman"/>
              </a:rPr>
              <a:t>Format : .csv file </a:t>
            </a:r>
          </a:p>
          <a:p>
            <a:pPr algn="just"/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ea typeface="Calibri"/>
                <a:cs typeface="Times New Roman"/>
              </a:rPr>
              <a:t>Total data :  7,11,237 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 sz="2000">
                <a:latin typeface="Times New Roman"/>
                <a:ea typeface="Calibri"/>
                <a:cs typeface="Times New Roman"/>
              </a:rPr>
              <a:t>Total fire day data : 4,988</a:t>
            </a:r>
          </a:p>
          <a:p>
            <a:pPr algn="just"/>
            <a:r>
              <a:rPr lang="en-US" sz="2000">
                <a:latin typeface="Times New Roman"/>
                <a:ea typeface="Calibri"/>
                <a:cs typeface="Times New Roman"/>
              </a:rPr>
              <a:t>Total no fire day data : 7,06,249</a:t>
            </a:r>
          </a:p>
          <a:p>
            <a:pPr algn="just"/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2000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C6714-5A56-2698-D3F0-7612B6769D24}"/>
              </a:ext>
            </a:extLst>
          </p:cNvPr>
          <p:cNvSpPr txBox="1"/>
          <p:nvPr/>
        </p:nvSpPr>
        <p:spPr>
          <a:xfrm>
            <a:off x="5507260" y="3222267"/>
            <a:ext cx="321577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u="sng">
                <a:solidFill>
                  <a:srgbClr val="7030A0"/>
                </a:solidFill>
                <a:latin typeface="Times New Roman"/>
                <a:cs typeface="Times New Roman"/>
              </a:rPr>
              <a:t>Data Classification</a:t>
            </a:r>
          </a:p>
          <a:p>
            <a:pPr algn="just"/>
            <a:endParaRPr lang="en-US" sz="2000">
              <a:latin typeface="Times New Roman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cs typeface="Times New Roman"/>
              </a:rPr>
              <a:t>Train : 2000-2018</a:t>
            </a:r>
          </a:p>
          <a:p>
            <a:pPr algn="just"/>
            <a:r>
              <a:rPr lang="en-US" sz="2000">
                <a:latin typeface="Times New Roman"/>
                <a:cs typeface="Times New Roman"/>
              </a:rPr>
              <a:t>Validate: 2018-2020</a:t>
            </a:r>
          </a:p>
          <a:p>
            <a:pPr algn="just"/>
            <a:r>
              <a:rPr lang="en-US" sz="2000">
                <a:latin typeface="Times New Roman"/>
                <a:cs typeface="Times New Roman"/>
              </a:rPr>
              <a:t>Test-2021-2025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184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CB55-C98B-794E-1C7A-7D9632E1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F706-5304-3A19-3EDB-7003A818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7790B-1AE1-4F82-FFD4-C50CDE084CA6}"/>
              </a:ext>
            </a:extLst>
          </p:cNvPr>
          <p:cNvSpPr txBox="1"/>
          <p:nvPr/>
        </p:nvSpPr>
        <p:spPr>
          <a:xfrm>
            <a:off x="328715" y="885880"/>
            <a:ext cx="11530730" cy="40011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7.4.b Exploratory Data Analysis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3C9C2-BE82-F60B-EB1F-1E6E1618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88" y="1285249"/>
            <a:ext cx="7293048" cy="4826353"/>
          </a:xfrm>
          <a:prstGeom prst="rect">
            <a:avLst/>
          </a:prstGeom>
        </p:spPr>
      </p:pic>
      <p:pic>
        <p:nvPicPr>
          <p:cNvPr id="6" name="Picture 5" descr="A graph of a fire rate&#10;&#10;AI-generated content may be incorrect.">
            <a:extLst>
              <a:ext uri="{FF2B5EF4-FFF2-40B4-BE49-F238E27FC236}">
                <a16:creationId xmlns:a16="http://schemas.microsoft.com/office/drawing/2014/main" id="{D06EFE38-4D5B-C97D-4EE5-7ECC6CEF2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337" b="-157"/>
          <a:stretch>
            <a:fillRect/>
          </a:stretch>
        </p:blipFill>
        <p:spPr>
          <a:xfrm>
            <a:off x="7789559" y="3585310"/>
            <a:ext cx="3927585" cy="2701576"/>
          </a:xfrm>
          <a:prstGeom prst="rect">
            <a:avLst/>
          </a:prstGeom>
        </p:spPr>
      </p:pic>
      <p:pic>
        <p:nvPicPr>
          <p:cNvPr id="3" name="Picture 2" descr="A graph of a fire rate&#10;&#10;AI-generated content may be incorrect.">
            <a:extLst>
              <a:ext uri="{FF2B5EF4-FFF2-40B4-BE49-F238E27FC236}">
                <a16:creationId xmlns:a16="http://schemas.microsoft.com/office/drawing/2014/main" id="{130E268E-0267-2A45-89C1-117EECBB4B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89" r="268" b="-340"/>
          <a:stretch>
            <a:fillRect/>
          </a:stretch>
        </p:blipFill>
        <p:spPr>
          <a:xfrm>
            <a:off x="7789559" y="860434"/>
            <a:ext cx="3819245" cy="26959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1DAC1C-2C0F-3429-444A-5A94C4FD77BA}"/>
              </a:ext>
            </a:extLst>
          </p:cNvPr>
          <p:cNvSpPr txBox="1"/>
          <p:nvPr/>
        </p:nvSpPr>
        <p:spPr>
          <a:xfrm>
            <a:off x="2055303" y="596667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 i="1" baseline="0">
                <a:latin typeface="Times New Roman"/>
              </a:rPr>
              <a:t> [ Figure </a:t>
            </a:r>
            <a:r>
              <a:rPr lang="en-GB" b="1" i="1">
                <a:latin typeface="Times New Roman"/>
              </a:rPr>
              <a:t>7.4</a:t>
            </a:r>
            <a:r>
              <a:rPr lang="en-GB" sz="1800" b="1" i="1" baseline="0">
                <a:latin typeface="Times New Roman"/>
              </a:rPr>
              <a:t>.</a:t>
            </a:r>
            <a:r>
              <a:rPr lang="en-GB" b="1" i="1">
                <a:latin typeface="Times New Roman"/>
              </a:rPr>
              <a:t>b.i</a:t>
            </a:r>
            <a:r>
              <a:rPr lang="en-GB" sz="1800" b="1" i="1" baseline="0">
                <a:latin typeface="Times New Roman"/>
              </a:rPr>
              <a:t> :</a:t>
            </a:r>
            <a:r>
              <a:rPr lang="en-GB" sz="1800" b="1" i="1" baseline="0">
                <a:solidFill>
                  <a:srgbClr val="7030A0"/>
                </a:solidFill>
                <a:latin typeface="Times New Roman"/>
              </a:rPr>
              <a:t> </a:t>
            </a:r>
            <a:r>
              <a:rPr lang="en-GB" b="1" i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Fire events classified  by </a:t>
            </a:r>
            <a:r>
              <a:rPr lang="en-GB" b="1" i="1">
                <a:solidFill>
                  <a:srgbClr val="7030A0"/>
                </a:solidFill>
                <a:latin typeface="Times New Roman"/>
              </a:rPr>
              <a:t>year and Month</a:t>
            </a:r>
            <a:r>
              <a:rPr lang="en-GB" b="1" i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 </a:t>
            </a:r>
            <a:r>
              <a:rPr lang="en-GB" sz="1800" b="1" i="1" baseline="0">
                <a:latin typeface="Times New Roman"/>
              </a:rPr>
              <a:t>]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426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C399-EE42-7608-57D2-451DF76D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DBB0-4C0A-C450-B83C-146DB9A5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9A8797-8873-889D-068F-C11126826892}"/>
              </a:ext>
            </a:extLst>
          </p:cNvPr>
          <p:cNvSpPr txBox="1"/>
          <p:nvPr/>
        </p:nvSpPr>
        <p:spPr>
          <a:xfrm>
            <a:off x="328715" y="885880"/>
            <a:ext cx="11530730" cy="40011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B2022-99CE-C7A6-3060-A8B2C41E2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" t="297" b="356"/>
          <a:stretch>
            <a:fillRect/>
          </a:stretch>
        </p:blipFill>
        <p:spPr>
          <a:xfrm>
            <a:off x="992404" y="749206"/>
            <a:ext cx="10214775" cy="53581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ACB233-17E1-2E6C-882E-D4581147DF26}"/>
              </a:ext>
            </a:extLst>
          </p:cNvPr>
          <p:cNvSpPr txBox="1"/>
          <p:nvPr/>
        </p:nvSpPr>
        <p:spPr>
          <a:xfrm>
            <a:off x="1265116" y="6097258"/>
            <a:ext cx="111373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 i="1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 [ Figure 7.4.b</a:t>
            </a:r>
            <a:r>
              <a:rPr lang="en-GB" b="1" i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.ii</a:t>
            </a:r>
            <a:r>
              <a:rPr lang="en-GB" sz="1800" b="1" i="1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 : </a:t>
            </a:r>
            <a:r>
              <a:rPr lang="en-GB" b="1" i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D</a:t>
            </a:r>
            <a:r>
              <a:rPr 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istribution </a:t>
            </a:r>
            <a:r>
              <a:rPr lang="en-GB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density of key environmental features active fire </a:t>
            </a:r>
            <a:r>
              <a:rPr lang="en-GB" sz="1800" b="1" baseline="0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events </a:t>
            </a:r>
            <a:r>
              <a:rPr lang="en-GB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&amp; no fires</a:t>
            </a:r>
            <a:r>
              <a:rPr lang="en-GB" sz="1800" b="1" i="1" baseline="0">
                <a:solidFill>
                  <a:srgbClr val="0D0D0D"/>
                </a:solidFill>
                <a:latin typeface="Times New Roman"/>
              </a:rPr>
              <a:t> </a:t>
            </a:r>
            <a:r>
              <a:rPr lang="en-GB" sz="1800" b="1" i="1" baseline="0">
                <a:latin typeface="Times New Roman"/>
              </a:rPr>
              <a:t>]</a:t>
            </a:r>
            <a:endParaRPr lang="en-GB" b="1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097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7FBB-9085-9023-83B6-8EE45A001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6724E-3ED6-B7FA-33F8-22BD5587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51923-6BEF-3200-A4D8-B3EDCD6B06E2}"/>
              </a:ext>
            </a:extLst>
          </p:cNvPr>
          <p:cNvSpPr txBox="1"/>
          <p:nvPr/>
        </p:nvSpPr>
        <p:spPr>
          <a:xfrm>
            <a:off x="328715" y="885880"/>
            <a:ext cx="11530730" cy="136960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6817D-23BA-BF6B-D6CF-B4C430412F25}"/>
              </a:ext>
            </a:extLst>
          </p:cNvPr>
          <p:cNvSpPr txBox="1"/>
          <p:nvPr/>
        </p:nvSpPr>
        <p:spPr>
          <a:xfrm>
            <a:off x="323088" y="1115567"/>
            <a:ext cx="11527536" cy="54630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200" b="1">
                <a:latin typeface="Times New Roman"/>
                <a:cs typeface="Times New Roman"/>
              </a:rPr>
              <a:t>7.5. FFOPM MODEL</a:t>
            </a:r>
            <a:endParaRPr lang="en-US" sz="2200"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200" b="1">
                <a:latin typeface="Times New Roman"/>
                <a:cs typeface="Times New Roman"/>
              </a:rPr>
              <a:t>a. Model Evaluation Metrices: 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ROC-AUC: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Measures the model’s overall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ability to distinguish between fire and no-fire across all thresholds.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PR-AUC :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Measures how well the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model balances precision and recall for the fire class in imbalanced   data.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Recall (Fire Class) :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Percentage of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actual fire events correctly identified by the model.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Precision :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Percentage of predicted fire events that were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actually true fires.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F1 Score: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Harmonic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 mean of precision and recall, balancing false alarms and missed fires.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False Alarm Rate: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Percentage of 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no-fire days incorrectly predicted as fire.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AutoNum type="romanLcPeriod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Specificity: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Percentage of</a:t>
            </a:r>
            <a:r>
              <a:rPr lang="en-US" sz="2000" b="1">
                <a:solidFill>
                  <a:srgbClr val="7030A0"/>
                </a:solidFill>
                <a:latin typeface="Times New Roman"/>
                <a:ea typeface="+mn-lt"/>
                <a:cs typeface="Times New Roman"/>
              </a:rPr>
              <a:t> no-fire days correctly identified as no-fire.</a:t>
            </a:r>
            <a:endParaRPr lang="en-US" sz="2000" b="1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2000">
              <a:ea typeface="Calibri"/>
              <a:cs typeface="Calibri"/>
            </a:endParaRPr>
          </a:p>
          <a:p>
            <a:pPr marL="285750" indent="-285750" algn="just">
              <a:buAutoNum type="romanLcPeriod"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3905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E7B07-DCF7-9A7C-2BBD-24C85F14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BFB8-223E-77E0-5A2F-6EEEE607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F85730-93BD-F9B9-8DC9-6E20231AD7CF}"/>
              </a:ext>
            </a:extLst>
          </p:cNvPr>
          <p:cNvSpPr txBox="1"/>
          <p:nvPr/>
        </p:nvSpPr>
        <p:spPr>
          <a:xfrm>
            <a:off x="328715" y="885880"/>
            <a:ext cx="11530730" cy="235449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>
                <a:latin typeface="Times New Roman"/>
                <a:cs typeface="Times New Roman"/>
              </a:rPr>
              <a:t>7.5.b Model Selection Strategy : 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Logistic Regression (baseline)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Random Forest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 descr="A graph of a logistic and random forest&#10;&#10;AI-generated content may be incorrect.">
            <a:extLst>
              <a:ext uri="{FF2B5EF4-FFF2-40B4-BE49-F238E27FC236}">
                <a16:creationId xmlns:a16="http://schemas.microsoft.com/office/drawing/2014/main" id="{A50C5428-6C85-2EC5-AC94-78AA9FF69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" t="29" r="191" b="1208"/>
          <a:stretch>
            <a:fillRect/>
          </a:stretch>
        </p:blipFill>
        <p:spPr>
          <a:xfrm>
            <a:off x="6454139" y="3724239"/>
            <a:ext cx="5461269" cy="2260513"/>
          </a:xfrm>
          <a:prstGeom prst="rect">
            <a:avLst/>
          </a:prstGeom>
        </p:spPr>
      </p:pic>
      <p:pic>
        <p:nvPicPr>
          <p:cNvPr id="5" name="Picture 4" descr="A graph of a logistic and precision&#10;&#10;AI-generated content may be incorrect.">
            <a:extLst>
              <a:ext uri="{FF2B5EF4-FFF2-40B4-BE49-F238E27FC236}">
                <a16:creationId xmlns:a16="http://schemas.microsoft.com/office/drawing/2014/main" id="{9584C2D5-A332-B104-33E0-350E409CD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4" t="204" r="109" b="-14"/>
          <a:stretch>
            <a:fillRect/>
          </a:stretch>
        </p:blipFill>
        <p:spPr>
          <a:xfrm>
            <a:off x="6316163" y="1027914"/>
            <a:ext cx="5566256" cy="2714706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750063DE-FEBD-47F1-3033-983F8AE3CD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4" t="-89" r="37" b="102"/>
          <a:stretch>
            <a:fillRect/>
          </a:stretch>
        </p:blipFill>
        <p:spPr>
          <a:xfrm>
            <a:off x="326758" y="1906479"/>
            <a:ext cx="5793809" cy="40801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63744B-C422-E517-0ABD-C88DEF917F79}"/>
              </a:ext>
            </a:extLst>
          </p:cNvPr>
          <p:cNvSpPr txBox="1"/>
          <p:nvPr/>
        </p:nvSpPr>
        <p:spPr>
          <a:xfrm>
            <a:off x="901818" y="6078523"/>
            <a:ext cx="103883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 i="1" baseline="0">
                <a:solidFill>
                  <a:srgbClr val="0D0D0D"/>
                </a:solidFill>
                <a:latin typeface="Times New Roman"/>
              </a:rPr>
              <a:t> [ Figure </a:t>
            </a:r>
            <a:r>
              <a:rPr lang="en-GB" b="1" i="1">
                <a:solidFill>
                  <a:srgbClr val="0D0D0D"/>
                </a:solidFill>
                <a:latin typeface="Times New Roman"/>
              </a:rPr>
              <a:t>7.5</a:t>
            </a:r>
            <a:r>
              <a:rPr lang="en-GB" sz="1800" b="1" i="1" baseline="0">
                <a:solidFill>
                  <a:srgbClr val="0D0D0D"/>
                </a:solidFill>
                <a:latin typeface="Times New Roman"/>
              </a:rPr>
              <a:t>.b.</a:t>
            </a:r>
            <a:r>
              <a:rPr lang="en-GB" b="1" i="1">
                <a:solidFill>
                  <a:srgbClr val="0D0D0D"/>
                </a:solidFill>
                <a:latin typeface="Times New Roman"/>
              </a:rPr>
              <a:t>i</a:t>
            </a:r>
            <a:r>
              <a:rPr lang="en-GB" sz="1800" b="1" i="1" baseline="0">
                <a:solidFill>
                  <a:srgbClr val="0D0D0D"/>
                </a:solidFill>
                <a:latin typeface="Times New Roman"/>
              </a:rPr>
              <a:t> : </a:t>
            </a:r>
            <a:r>
              <a:rPr lang="en-GB" b="1" i="1">
                <a:solidFill>
                  <a:srgbClr val="7030A0"/>
                </a:solidFill>
                <a:latin typeface="Times New Roman"/>
              </a:rPr>
              <a:t>Confusion Matrix / ROC / Precision Recall Curve</a:t>
            </a:r>
            <a:r>
              <a:rPr lang="en-GB" b="1" i="1">
                <a:solidFill>
                  <a:srgbClr val="0D0D0D"/>
                </a:solidFill>
                <a:latin typeface="Times New Roman"/>
              </a:rPr>
              <a:t> – logistic Regression, Random Forest  </a:t>
            </a:r>
            <a:r>
              <a:rPr lang="en-GB" sz="1800" b="1" i="1" baseline="0">
                <a:latin typeface="Times New Roman"/>
              </a:rPr>
              <a:t>]</a:t>
            </a:r>
            <a:endParaRPr lang="en-GB">
              <a:ea typeface="Calibri"/>
              <a:cs typeface="Calibri"/>
            </a:endParaRP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624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4FE81-DD49-8BE1-034E-97CAA448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4DB4-44FC-9BAD-EECF-5434881C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69A045-8E6E-9A3E-01E1-15A1DCB0C4BC}"/>
              </a:ext>
            </a:extLst>
          </p:cNvPr>
          <p:cNvSpPr txBox="1"/>
          <p:nvPr/>
        </p:nvSpPr>
        <p:spPr>
          <a:xfrm>
            <a:off x="328715" y="885880"/>
            <a:ext cx="11530730" cy="136960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6" name="Picture 5" descr="A comparison of a graph&#10;&#10;AI-generated content may be incorrect.">
            <a:extLst>
              <a:ext uri="{FF2B5EF4-FFF2-40B4-BE49-F238E27FC236}">
                <a16:creationId xmlns:a16="http://schemas.microsoft.com/office/drawing/2014/main" id="{5D84C2DD-4F07-5545-1397-E08967E9E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46" t="356" b="617"/>
          <a:stretch>
            <a:fillRect/>
          </a:stretch>
        </p:blipFill>
        <p:spPr>
          <a:xfrm>
            <a:off x="237190" y="1174682"/>
            <a:ext cx="5624334" cy="2358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F97A93-A96C-0522-71C2-3048CA3F1C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" b="535"/>
          <a:stretch>
            <a:fillRect/>
          </a:stretch>
        </p:blipFill>
        <p:spPr>
          <a:xfrm>
            <a:off x="6156694" y="1175452"/>
            <a:ext cx="5821870" cy="23785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BB723C-8715-AF01-D106-EA1681159D8E}"/>
              </a:ext>
            </a:extLst>
          </p:cNvPr>
          <p:cNvSpPr txBox="1"/>
          <p:nvPr/>
        </p:nvSpPr>
        <p:spPr>
          <a:xfrm>
            <a:off x="664911" y="779057"/>
            <a:ext cx="11271504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>
                <a:latin typeface="Times New Roman"/>
                <a:cs typeface="Times New Roman"/>
              </a:rPr>
              <a:t>7.5.c Model Selection Strategy - </a:t>
            </a:r>
            <a:r>
              <a:rPr lang="en-US" sz="2000">
                <a:latin typeface="Times New Roman"/>
                <a:ea typeface="+mn-lt"/>
                <a:cs typeface="Times New Roman"/>
              </a:rPr>
              <a:t>Gradient Boosting models :  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XGBoost</a:t>
            </a:r>
            <a:r>
              <a:rPr lang="en-US" sz="2000">
                <a:latin typeface="Times New Roman"/>
                <a:ea typeface="+mn-lt"/>
                <a:cs typeface="Times New Roman"/>
              </a:rPr>
              <a:t> , 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LightGBM</a:t>
            </a:r>
            <a:r>
              <a:rPr lang="en-US" sz="2000">
                <a:latin typeface="Times New Roman"/>
                <a:ea typeface="+mn-lt"/>
                <a:cs typeface="Times New Roman"/>
              </a:rPr>
              <a:t> , 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CatBoost</a:t>
            </a:r>
            <a:endParaRPr lang="en-US" err="1">
              <a:latin typeface="Times New Roman"/>
              <a:ea typeface="Calibri"/>
              <a:cs typeface="Times New Roman"/>
            </a:endParaRPr>
          </a:p>
          <a:p>
            <a:pPr algn="just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 algn="just">
              <a:buFont typeface="Arial,Sans-Serif"/>
              <a:buChar char="•"/>
            </a:pPr>
            <a:endParaRPr lang="en-US" sz="2000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76697D-597B-B98F-94F7-FFF8C3D320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2" t="15846" r="34296" b="63005"/>
          <a:stretch>
            <a:fillRect/>
          </a:stretch>
        </p:blipFill>
        <p:spPr>
          <a:xfrm>
            <a:off x="234943" y="4161330"/>
            <a:ext cx="11664745" cy="2340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8A9DA1-D1B4-8BFD-4B43-E0622430BA1C}"/>
              </a:ext>
            </a:extLst>
          </p:cNvPr>
          <p:cNvSpPr txBox="1"/>
          <p:nvPr/>
        </p:nvSpPr>
        <p:spPr>
          <a:xfrm>
            <a:off x="3460461" y="3505900"/>
            <a:ext cx="112062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 i="1" u="none" strike="noStrike" baseline="0">
                <a:solidFill>
                  <a:srgbClr val="0D0D0D"/>
                </a:solidFill>
                <a:latin typeface="Times New Roman"/>
              </a:rPr>
              <a:t> [ Figure 7.4.b.ii :</a:t>
            </a:r>
            <a:r>
              <a:rPr lang="en-GB" b="1" i="1">
                <a:solidFill>
                  <a:srgbClr val="0D0D0D"/>
                </a:solidFill>
                <a:latin typeface="Times New Roman"/>
              </a:rPr>
              <a:t> </a:t>
            </a:r>
            <a:r>
              <a:rPr lang="en-GB" b="1" i="1">
                <a:solidFill>
                  <a:srgbClr val="7030A0"/>
                </a:solidFill>
                <a:latin typeface="Times New Roman"/>
              </a:rPr>
              <a:t>ROC curve / Precision- Recall Curve test </a:t>
            </a:r>
            <a:r>
              <a:rPr lang="en-GB" b="1" i="1">
                <a:solidFill>
                  <a:srgbClr val="0D0D0D"/>
                </a:solidFill>
                <a:latin typeface="Times New Roman"/>
              </a:rPr>
              <a:t>– Gradient Boosting Model </a:t>
            </a:r>
            <a:r>
              <a:rPr lang="en-GB" sz="1800" b="1" i="1" u="none" strike="noStrike" baseline="0">
                <a:solidFill>
                  <a:srgbClr val="000000"/>
                </a:solidFill>
                <a:latin typeface="Times New Roman"/>
              </a:rPr>
              <a:t>]</a:t>
            </a:r>
            <a:endParaRPr lang="en-GB"/>
          </a:p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CFF20-7D29-7C5C-3D29-E058295D05FB}"/>
              </a:ext>
            </a:extLst>
          </p:cNvPr>
          <p:cNvSpPr txBox="1"/>
          <p:nvPr/>
        </p:nvSpPr>
        <p:spPr>
          <a:xfrm>
            <a:off x="426441" y="3841460"/>
            <a:ext cx="68370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0" i="0" u="none" strike="noStrike" baseline="0">
                <a:solidFill>
                  <a:srgbClr val="000000"/>
                </a:solidFill>
                <a:latin typeface="Times New Roman"/>
              </a:rPr>
              <a:t> [ Table no 7.5.</a:t>
            </a:r>
            <a:r>
              <a:rPr lang="en-GB">
                <a:solidFill>
                  <a:srgbClr val="000000"/>
                </a:solidFill>
                <a:latin typeface="Times New Roman"/>
              </a:rPr>
              <a:t>c</a:t>
            </a:r>
            <a:r>
              <a:rPr lang="en-GB" sz="1800" b="0" i="0" u="none" strike="noStrike" baseline="0">
                <a:solidFill>
                  <a:srgbClr val="000000"/>
                </a:solidFill>
                <a:latin typeface="Times New Roman"/>
              </a:rPr>
              <a:t> : Evaluation metrices </a:t>
            </a:r>
            <a:r>
              <a:rPr lang="en-GB">
                <a:solidFill>
                  <a:srgbClr val="000000"/>
                </a:solidFill>
                <a:latin typeface="Times New Roman"/>
              </a:rPr>
              <a:t>– Gradient Boosting Model</a:t>
            </a:r>
            <a:r>
              <a:rPr lang="en-GB" sz="1800" b="0" i="0" u="none" strike="noStrike" baseline="0">
                <a:solidFill>
                  <a:srgbClr val="000000"/>
                </a:solidFill>
                <a:latin typeface="Times New Roman"/>
              </a:rPr>
              <a:t> ]​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71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AD374-0B08-9FFB-A7BB-280B446E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9DEF93-46B9-6167-D496-978E1E3CC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54" t="21117" r="25230" b="55007"/>
          <a:stretch>
            <a:fillRect/>
          </a:stretch>
        </p:blipFill>
        <p:spPr>
          <a:xfrm>
            <a:off x="327264" y="3889672"/>
            <a:ext cx="10439889" cy="2532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E9D5B5-091A-3DC1-F2F8-C90AED4D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BF6577-9ED3-0B25-C0E6-41E4B6DC3C83}"/>
              </a:ext>
            </a:extLst>
          </p:cNvPr>
          <p:cNvSpPr txBox="1"/>
          <p:nvPr/>
        </p:nvSpPr>
        <p:spPr>
          <a:xfrm>
            <a:off x="328715" y="885880"/>
            <a:ext cx="11530730" cy="136960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229B9-2887-298A-5230-4BDEE546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72"/>
          <a:stretch>
            <a:fillRect/>
          </a:stretch>
        </p:blipFill>
        <p:spPr>
          <a:xfrm>
            <a:off x="8711379" y="758219"/>
            <a:ext cx="3146129" cy="2673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C9580F-F285-38E3-ED90-70A610CC57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7" r="49723"/>
          <a:stretch>
            <a:fillRect/>
          </a:stretch>
        </p:blipFill>
        <p:spPr>
          <a:xfrm>
            <a:off x="5346192" y="861851"/>
            <a:ext cx="3112539" cy="2564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FB99D7-E3CB-E70E-D5D4-DFA3E466915D}"/>
              </a:ext>
            </a:extLst>
          </p:cNvPr>
          <p:cNvSpPr txBox="1"/>
          <p:nvPr/>
        </p:nvSpPr>
        <p:spPr>
          <a:xfrm>
            <a:off x="329184" y="886968"/>
            <a:ext cx="6096000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>
                <a:latin typeface="Times New Roman"/>
                <a:ea typeface="Segoe UI"/>
                <a:cs typeface="Times New Roman"/>
              </a:rPr>
              <a:t>7.5.d Model</a:t>
            </a:r>
            <a:r>
              <a:rPr lang="en-US" sz="2200" b="1" baseline="0">
                <a:latin typeface="Times New Roman"/>
                <a:ea typeface="Segoe UI"/>
                <a:cs typeface="Times New Roman"/>
              </a:rPr>
              <a:t> </a:t>
            </a:r>
            <a:r>
              <a:rPr lang="en-US" sz="2200" b="1">
                <a:latin typeface="Times New Roman"/>
                <a:ea typeface="Segoe UI"/>
                <a:cs typeface="Times New Roman"/>
              </a:rPr>
              <a:t>Evaluation : FFOPM Model</a:t>
            </a:r>
          </a:p>
          <a:p>
            <a:pPr algn="just"/>
            <a:r>
              <a:rPr lang="en-US" sz="2000" b="1">
                <a:latin typeface="Times New Roman"/>
                <a:ea typeface="+mn-lt"/>
                <a:cs typeface="Times New Roman"/>
              </a:rPr>
              <a:t>Default Threshold (0.5):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    Average Accuracy:  0.9087 (90.87%)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    Average Log Loss:  0.2141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>
              <a:buFont typeface="Arial"/>
              <a:buChar char="•"/>
            </a:pPr>
            <a:endParaRPr lang="en-US" sz="200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Optimal Threshold (0.6569):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    Average Accuracy:  0.9324 (93.24%)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algn="just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    Average Log Loss:  0.2141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buAutoNum type="alphaLcPeriod"/>
            </a:pPr>
            <a:endParaRPr lang="en-US" sz="2000">
              <a:latin typeface="Times New Roman"/>
              <a:cs typeface="Arial"/>
            </a:endParaRPr>
          </a:p>
          <a:p>
            <a:pPr algn="ctr"/>
            <a:endParaRPr lang="en-GB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DB23C-D068-4BE7-DB2E-E9DF16358E13}"/>
              </a:ext>
            </a:extLst>
          </p:cNvPr>
          <p:cNvSpPr txBox="1"/>
          <p:nvPr/>
        </p:nvSpPr>
        <p:spPr>
          <a:xfrm>
            <a:off x="290470" y="3651300"/>
            <a:ext cx="81686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aseline="0">
                <a:latin typeface="Times New Roman"/>
              </a:rPr>
              <a:t> [ Table no </a:t>
            </a:r>
            <a:r>
              <a:rPr lang="en-GB">
                <a:latin typeface="Times New Roman"/>
              </a:rPr>
              <a:t>7.5.d</a:t>
            </a:r>
            <a:r>
              <a:rPr lang="en-GB" sz="1800" baseline="0">
                <a:latin typeface="Times New Roman"/>
              </a:rPr>
              <a:t> : </a:t>
            </a:r>
            <a:r>
              <a:rPr lang="en-GB">
                <a:latin typeface="Times New Roman"/>
              </a:rPr>
              <a:t>Evaluation metrices of final FFOPM Model</a:t>
            </a:r>
            <a:r>
              <a:rPr lang="en-GB" sz="1800" baseline="0">
                <a:latin typeface="Times New Roman"/>
              </a:rPr>
              <a:t> ]​</a:t>
            </a:r>
            <a:endParaRPr lang="en-GB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389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4BAFB-8200-2C48-8E9A-BC693382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6B11-174D-06DB-A2DD-D9AB6A94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Accomplished</a:t>
            </a: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1B046F-FCEB-F9FA-C11E-4965A179BB19}"/>
              </a:ext>
            </a:extLst>
          </p:cNvPr>
          <p:cNvGrpSpPr/>
          <p:nvPr/>
        </p:nvGrpSpPr>
        <p:grpSpPr>
          <a:xfrm>
            <a:off x="-5270493" y="885880"/>
            <a:ext cx="17129938" cy="4799005"/>
            <a:chOff x="-5270493" y="885880"/>
            <a:chExt cx="17129938" cy="47990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9DF2A0-A0BF-3C9C-ADF6-E03F05D06935}"/>
                </a:ext>
              </a:extLst>
            </p:cNvPr>
            <p:cNvSpPr txBox="1"/>
            <p:nvPr/>
          </p:nvSpPr>
          <p:spPr>
            <a:xfrm>
              <a:off x="328715" y="885880"/>
              <a:ext cx="11530730" cy="1369606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endParaRPr lang="en-US">
                <a:ea typeface="Calibri"/>
                <a:cs typeface="Calibri"/>
              </a:endParaRPr>
            </a:p>
            <a:p>
              <a:pPr algn="just"/>
              <a:endParaRPr lang="en-US" sz="2000">
                <a:latin typeface="Calibri"/>
                <a:ea typeface="Calibri"/>
                <a:cs typeface="Calibri"/>
              </a:endParaRPr>
            </a:p>
            <a:p>
              <a:pPr algn="just"/>
              <a:endParaRPr lang="en-US" sz="2000">
                <a:latin typeface="Calibri"/>
                <a:ea typeface="Calibri"/>
                <a:cs typeface="Calibri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 lang="en-GB" sz="2000" b="1">
                <a:latin typeface="Times New Roman"/>
                <a:ea typeface="Calibri"/>
                <a:cs typeface="Times New Roman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4002399-EA75-3D56-47F9-EDA4B741F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000" r="-183" b="1423"/>
            <a:stretch>
              <a:fillRect/>
            </a:stretch>
          </p:blipFill>
          <p:spPr>
            <a:xfrm>
              <a:off x="6299539" y="1172080"/>
              <a:ext cx="5336412" cy="4512805"/>
            </a:xfrm>
            <a:prstGeom prst="rect">
              <a:avLst/>
            </a:prstGeom>
          </p:spPr>
        </p:pic>
        <p:pic>
          <p:nvPicPr>
            <p:cNvPr id="6" name="Picture 5" descr="A green and white chart with numbers and labels&#10;&#10;AI-generated content may be incorrect.">
              <a:extLst>
                <a:ext uri="{FF2B5EF4-FFF2-40B4-BE49-F238E27FC236}">
                  <a16:creationId xmlns:a16="http://schemas.microsoft.com/office/drawing/2014/main" id="{E59613BF-65FA-DC11-7E09-C27515027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62624" r="51487" b="1423"/>
            <a:stretch>
              <a:fillRect/>
            </a:stretch>
          </p:blipFill>
          <p:spPr>
            <a:xfrm>
              <a:off x="-5270493" y="1172080"/>
              <a:ext cx="11154178" cy="425066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2F7E7A6-1733-15F8-8D0F-23F8AB6654C2}"/>
              </a:ext>
            </a:extLst>
          </p:cNvPr>
          <p:cNvSpPr txBox="1"/>
          <p:nvPr/>
        </p:nvSpPr>
        <p:spPr>
          <a:xfrm>
            <a:off x="3048000" y="5870670"/>
            <a:ext cx="933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="1" i="1" baseline="0">
                <a:latin typeface="Times New Roman"/>
                <a:ea typeface="Segoe UI"/>
                <a:cs typeface="Segoe UI"/>
              </a:rPr>
              <a:t> [ Figure </a:t>
            </a:r>
            <a:r>
              <a:rPr lang="en-GB" b="1" i="1">
                <a:latin typeface="Times New Roman"/>
                <a:ea typeface="Segoe UI"/>
                <a:cs typeface="Segoe UI"/>
              </a:rPr>
              <a:t>7.5.d :</a:t>
            </a:r>
            <a:r>
              <a:rPr lang="en-GB" sz="1800" b="1" i="1" baseline="0">
                <a:solidFill>
                  <a:srgbClr val="7030A0"/>
                </a:solidFill>
                <a:latin typeface="Times New Roman"/>
                <a:ea typeface="Segoe UI"/>
                <a:cs typeface="Segoe UI"/>
              </a:rPr>
              <a:t> </a:t>
            </a:r>
            <a:r>
              <a:rPr lang="en-GB" b="1" i="1">
                <a:solidFill>
                  <a:srgbClr val="7030A0"/>
                </a:solidFill>
                <a:latin typeface="Times New Roman"/>
                <a:ea typeface="Segoe UI"/>
                <a:cs typeface="Segoe UI"/>
              </a:rPr>
              <a:t>Confusion Matrix</a:t>
            </a:r>
            <a:r>
              <a:rPr lang="en-GB" b="1" i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Segoe UI"/>
                <a:cs typeface="Segoe UI"/>
              </a:rPr>
              <a:t> – FFOPM Model</a:t>
            </a:r>
            <a:r>
              <a:rPr lang="en-GB" sz="1800" b="1" i="1" baseline="0">
                <a:latin typeface="Times New Roman"/>
                <a:ea typeface="Segoe UI"/>
                <a:cs typeface="Segoe UI"/>
              </a:rPr>
              <a:t> ]</a:t>
            </a:r>
            <a:endParaRPr lang="en-US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546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9DCA-7DFB-522B-32FB-B24C439D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6375-15BE-0DA9-A0F6-4B08E4520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Task Remaining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087590-96DD-670C-142F-8594D1FAA44B}"/>
              </a:ext>
            </a:extLst>
          </p:cNvPr>
          <p:cNvSpPr txBox="1"/>
          <p:nvPr/>
        </p:nvSpPr>
        <p:spPr>
          <a:xfrm>
            <a:off x="609131" y="977320"/>
            <a:ext cx="10604138" cy="263149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FFSFM Model Development</a:t>
            </a:r>
          </a:p>
          <a:p>
            <a:pPr marL="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FFSFM Model Hyperparameter tuning</a:t>
            </a:r>
          </a:p>
          <a:p>
            <a:pPr marL="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FFSFM Model Deployment</a:t>
            </a:r>
          </a:p>
          <a:p>
            <a:pPr marL="342900" algn="just">
              <a:spcBef>
                <a:spcPts val="600"/>
              </a:spcBef>
              <a:spcAft>
                <a:spcPts val="600"/>
              </a:spcAft>
              <a:buFont typeface="Calibri"/>
              <a:buChar char="-"/>
            </a:pPr>
            <a:r>
              <a:rPr lang="en-US" sz="2000">
                <a:latin typeface="Times New Roman"/>
                <a:ea typeface="Calibri"/>
                <a:cs typeface="Times New Roman"/>
              </a:rPr>
              <a:t>FFSFM and System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sz="2000" b="1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1177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[1] A. Shrestha, "Nepal’s forests in peril as wildfire incidents surge," </a:t>
            </a:r>
            <a:r>
              <a:rPr lang="en-GB" sz="1800" i="1">
                <a:latin typeface="Times New Roman"/>
                <a:cs typeface="Times New Roman"/>
              </a:rPr>
              <a:t>The Kathmandu Post</a:t>
            </a:r>
            <a:r>
              <a:rPr lang="en-GB" sz="1800">
                <a:latin typeface="Times New Roman"/>
                <a:cs typeface="Times New Roman"/>
              </a:rPr>
              <a:t>, May 2024. [Online]. Accessed: May 2024.</a:t>
            </a:r>
            <a:endParaRPr lang="en-US" sz="18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[2] Nepal Community, "Discussion on the 2024 wildfire season and its impacts," Reddit, 2024. [Online]. Available: </a:t>
            </a:r>
            <a:r>
              <a:rPr lang="en-GB" sz="1800"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https://www.reddit.com/r/Nepal/</a:t>
            </a:r>
            <a:r>
              <a:rPr lang="en-GB" sz="1800">
                <a:latin typeface="Times New Roman"/>
                <a:cs typeface="Times New Roman"/>
              </a:rPr>
              <a:t>. Accessed: May 2024.</a:t>
            </a:r>
          </a:p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[3] A. Yilmaz and L. Chen, "A comparative analysis of machine learning models for forest fire susceptibility mapping in the Antalya region," </a:t>
            </a:r>
            <a:r>
              <a:rPr lang="en-GB" sz="1800" i="1">
                <a:latin typeface="Times New Roman"/>
                <a:cs typeface="Times New Roman"/>
              </a:rPr>
              <a:t>Remote Sens. Environ.</a:t>
            </a:r>
            <a:r>
              <a:rPr lang="en-GB" sz="1800">
                <a:latin typeface="Times New Roman"/>
                <a:cs typeface="Times New Roman"/>
              </a:rPr>
              <a:t>, vol. 123, Art. no. 101234, 2022.</a:t>
            </a:r>
          </a:p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[4] R. Gupta and S. Kumar, "Explainable AI for wildfire risk prediction: A hybrid </a:t>
            </a:r>
            <a:r>
              <a:rPr lang="en-GB" sz="1800" err="1">
                <a:latin typeface="Times New Roman"/>
                <a:cs typeface="Times New Roman"/>
              </a:rPr>
              <a:t>XGBoost</a:t>
            </a:r>
            <a:r>
              <a:rPr lang="en-GB" sz="1800">
                <a:latin typeface="Times New Roman"/>
                <a:cs typeface="Times New Roman"/>
              </a:rPr>
              <a:t> and SHAP approach," </a:t>
            </a:r>
            <a:r>
              <a:rPr lang="en-GB" sz="1800" i="1">
                <a:latin typeface="Times New Roman"/>
                <a:cs typeface="Times New Roman"/>
              </a:rPr>
              <a:t>Forests</a:t>
            </a:r>
            <a:r>
              <a:rPr lang="en-GB" sz="1800">
                <a:latin typeface="Times New Roman"/>
                <a:cs typeface="Times New Roman"/>
              </a:rPr>
              <a:t>, vol. 14, no. 5, Art. no. 890, 2023.</a:t>
            </a:r>
          </a:p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[5] R. Xu, J. Li, and Y. Chen, "A forest fire detection system based on ensemble learning," </a:t>
            </a:r>
            <a:r>
              <a:rPr lang="en-GB" sz="1800" i="1">
                <a:latin typeface="Times New Roman"/>
                <a:cs typeface="Times New Roman"/>
              </a:rPr>
              <a:t>J. Remote Sens. Appl.</a:t>
            </a:r>
            <a:r>
              <a:rPr lang="en-GB" sz="1800">
                <a:latin typeface="Times New Roman"/>
                <a:cs typeface="Times New Roman"/>
              </a:rPr>
              <a:t>, vol. 15, pp. 112–125, 2023.</a:t>
            </a:r>
          </a:p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[6] X. Sun </a:t>
            </a:r>
            <a:r>
              <a:rPr lang="en-GB" sz="1800" i="1">
                <a:latin typeface="Times New Roman"/>
                <a:cs typeface="Times New Roman"/>
              </a:rPr>
              <a:t>et al.</a:t>
            </a:r>
            <a:r>
              <a:rPr lang="en-GB" sz="1800">
                <a:latin typeface="Times New Roman"/>
                <a:cs typeface="Times New Roman"/>
              </a:rPr>
              <a:t>, "A forest fire prediction model based on cellular automata and machine learning," </a:t>
            </a:r>
            <a:r>
              <a:rPr lang="en-GB" sz="1800" i="1">
                <a:latin typeface="Times New Roman"/>
                <a:cs typeface="Times New Roman"/>
              </a:rPr>
              <a:t>IEEE Access</a:t>
            </a:r>
            <a:r>
              <a:rPr lang="en-GB" sz="1800">
                <a:latin typeface="Times New Roman"/>
                <a:cs typeface="Times New Roman"/>
              </a:rPr>
              <a:t>, vol. 12, pp. 55389–55403, 2024.</a:t>
            </a:r>
          </a:p>
          <a:p>
            <a:pPr>
              <a:buNone/>
            </a:pPr>
            <a:endParaRPr lang="en-GB" sz="1800"/>
          </a:p>
          <a:p>
            <a:pPr>
              <a:buNone/>
            </a:pPr>
            <a:endParaRPr lang="en-GB" sz="12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59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D4B7-D959-501C-7AB2-5CC8C485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4A41-0225-23DC-193C-8DCFBBBD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6B6AB-EFA6-5B5D-357C-97ADCCE60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[7] Y. Xie and L. Peng, "Ensemble learning methods for burned area prediction in California and Portugal forests," </a:t>
            </a:r>
            <a:r>
              <a:rPr lang="en-GB" sz="1800" i="1">
                <a:latin typeface="Times New Roman"/>
                <a:cs typeface="Times New Roman"/>
              </a:rPr>
              <a:t>Int. J. Wildland Fire</a:t>
            </a:r>
            <a:r>
              <a:rPr lang="en-GB" sz="1800">
                <a:latin typeface="Times New Roman"/>
                <a:cs typeface="Times New Roman"/>
              </a:rPr>
              <a:t>, vol. 32, pp. 450–465, 2023.</a:t>
            </a:r>
            <a:endParaRPr lang="en-GB" sz="1800"/>
          </a:p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[8] M. Haydar, A. H. Rafi, M. K. H. Khan, S. Hosan, and H. Sadia, "Mapping climate change induced forest fire susceptibility using tree-based machine learning algorithms in Bangladesh," </a:t>
            </a:r>
            <a:r>
              <a:rPr lang="en-GB" sz="1800" i="1">
                <a:latin typeface="Times New Roman"/>
                <a:cs typeface="Times New Roman"/>
              </a:rPr>
              <a:t>Ecol. Indic.</a:t>
            </a:r>
            <a:r>
              <a:rPr lang="en-GB" sz="1800">
                <a:latin typeface="Times New Roman"/>
                <a:cs typeface="Times New Roman"/>
              </a:rPr>
              <a:t>, vol. 176, Art. no. 113657, 2025.</a:t>
            </a:r>
            <a:endParaRPr lang="en-GB" sz="1800"/>
          </a:p>
          <a:p>
            <a:pPr>
              <a:buNone/>
            </a:pPr>
            <a:r>
              <a:rPr lang="en-GB" sz="1800">
                <a:latin typeface="Times New Roman"/>
                <a:cs typeface="Times New Roman"/>
              </a:rPr>
              <a:t>[9] H. Hannane, M. El-Meziani, and M. C. </a:t>
            </a:r>
            <a:r>
              <a:rPr lang="en-GB" sz="1800" err="1">
                <a:latin typeface="Times New Roman"/>
                <a:cs typeface="Times New Roman"/>
              </a:rPr>
              <a:t>Bakkay</a:t>
            </a:r>
            <a:r>
              <a:rPr lang="en-GB" sz="1800">
                <a:latin typeface="Times New Roman"/>
                <a:cs typeface="Times New Roman"/>
              </a:rPr>
              <a:t>, "Satellite data for forest fire detection using deep learning," </a:t>
            </a:r>
            <a:r>
              <a:rPr lang="en-GB" sz="1800" i="1">
                <a:latin typeface="Times New Roman"/>
                <a:cs typeface="Times New Roman"/>
              </a:rPr>
              <a:t>Int. J. Adv. Trends Computer. Sci. Eng.</a:t>
            </a:r>
            <a:r>
              <a:rPr lang="en-GB" sz="1800">
                <a:latin typeface="Times New Roman"/>
                <a:cs typeface="Times New Roman"/>
              </a:rPr>
              <a:t>, vol. 12, no. 1, 2023.</a:t>
            </a:r>
            <a:endParaRPr lang="en-GB"/>
          </a:p>
          <a:p>
            <a:pPr>
              <a:buNone/>
            </a:pPr>
            <a:endParaRPr lang="en-GB" sz="1800"/>
          </a:p>
          <a:p>
            <a:pPr>
              <a:buNone/>
            </a:pPr>
            <a:endParaRPr lang="en-GB" sz="12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742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27CB17-A58B-501F-4680-EFBDFC6772C1}"/>
              </a:ext>
            </a:extLst>
          </p:cNvPr>
          <p:cNvSpPr txBox="1"/>
          <p:nvPr/>
        </p:nvSpPr>
        <p:spPr>
          <a:xfrm>
            <a:off x="201168" y="5830824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 i="1" baseline="0">
                <a:latin typeface="Times New Roman"/>
                <a:ea typeface="Segoe UI"/>
                <a:cs typeface="Segoe UI"/>
              </a:rPr>
              <a:t>      </a:t>
            </a:r>
            <a:r>
              <a:rPr lang="en-GB" sz="1600" b="1" i="1">
                <a:latin typeface="Times New Roman"/>
                <a:ea typeface="Segoe UI"/>
                <a:cs typeface="Segoe UI"/>
              </a:rPr>
              <a:t>                   </a:t>
            </a:r>
            <a:r>
              <a:rPr lang="en-GB" sz="1600" b="1" i="1" baseline="0">
                <a:latin typeface="Times New Roman"/>
                <a:ea typeface="Segoe UI"/>
                <a:cs typeface="Segoe UI"/>
              </a:rPr>
              <a:t>Figure 9.1 : </a:t>
            </a:r>
            <a:r>
              <a:rPr lang="en-GB" sz="1600" b="1" i="1">
                <a:latin typeface="Times New Roman"/>
                <a:ea typeface="Segoe UI"/>
                <a:cs typeface="Segoe UI"/>
              </a:rPr>
              <a:t>No Fire / Fire Satellite Image</a:t>
            </a:r>
          </a:p>
          <a:p>
            <a:endParaRPr lang="en-GB" sz="1600">
              <a:latin typeface="Times New Roman"/>
              <a:cs typeface="Segoe UI"/>
            </a:endParaRPr>
          </a:p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DF0A9-AF85-BB70-D416-3A8163B238B0}"/>
              </a:ext>
            </a:extLst>
          </p:cNvPr>
          <p:cNvSpPr txBox="1"/>
          <p:nvPr/>
        </p:nvSpPr>
        <p:spPr>
          <a:xfrm>
            <a:off x="5460503" y="5830457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 i="1" baseline="0">
                <a:latin typeface="Times New Roman"/>
                <a:ea typeface="Segoe UI"/>
                <a:cs typeface="Segoe UI"/>
              </a:rPr>
              <a:t>      </a:t>
            </a:r>
            <a:r>
              <a:rPr lang="en-GB" sz="1600" b="1" i="1">
                <a:latin typeface="Times New Roman"/>
                <a:ea typeface="Segoe UI"/>
                <a:cs typeface="Segoe UI"/>
              </a:rPr>
              <a:t>                            </a:t>
            </a:r>
            <a:r>
              <a:rPr lang="en-GB" sz="1600" b="1" i="1" baseline="0">
                <a:latin typeface="Times New Roman"/>
                <a:ea typeface="Segoe UI"/>
                <a:cs typeface="Segoe UI"/>
              </a:rPr>
              <a:t>Figure 9.1 : </a:t>
            </a:r>
            <a:r>
              <a:rPr lang="en-GB" sz="1600" b="1" i="1">
                <a:latin typeface="Times New Roman"/>
                <a:ea typeface="Segoe UI"/>
                <a:cs typeface="Segoe UI"/>
              </a:rPr>
              <a:t>Master CSV Parameters Data</a:t>
            </a:r>
            <a:endParaRPr lang="en-GB" sz="1600">
              <a:latin typeface="Times New Roman"/>
              <a:ea typeface="Segoe UI"/>
              <a:cs typeface="Segoe UI"/>
            </a:endParaRPr>
          </a:p>
          <a:p>
            <a:endParaRPr lang="en-GB" sz="1600" baseline="0">
              <a:latin typeface="Times New Roman"/>
              <a:ea typeface="Segoe UI"/>
              <a:cs typeface="Segoe UI"/>
            </a:endParaRPr>
          </a:p>
          <a:p>
            <a:pPr algn="ctr"/>
            <a:endParaRPr lang="en-GB"/>
          </a:p>
        </p:txBody>
      </p:sp>
      <p:pic>
        <p:nvPicPr>
          <p:cNvPr id="3" name="Picture 2" descr="A screenshot of a map&#10;&#10;AI-generated content may be incorrect.">
            <a:extLst>
              <a:ext uri="{FF2B5EF4-FFF2-40B4-BE49-F238E27FC236}">
                <a16:creationId xmlns:a16="http://schemas.microsoft.com/office/drawing/2014/main" id="{26CF3AAB-D41D-A131-2D10-DCE59EEEC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968" y="883920"/>
            <a:ext cx="3755136" cy="234696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BDC6CC-BA4A-9DDC-C95C-44E4B77FA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968" y="3432048"/>
            <a:ext cx="3761232" cy="2359152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FDD27A-C328-0975-9DDC-B832B1E354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54" t="15867" r="18776"/>
          <a:stretch>
            <a:fillRect/>
          </a:stretch>
        </p:blipFill>
        <p:spPr>
          <a:xfrm>
            <a:off x="5403713" y="768357"/>
            <a:ext cx="6203688" cy="506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76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0060-CC0B-5599-8CD4-0F895C69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ADC0-BBA4-D578-1F7E-631BEE14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D9BB8-F445-9B9E-7BA8-44215498C9B1}"/>
              </a:ext>
            </a:extLst>
          </p:cNvPr>
          <p:cNvSpPr txBox="1"/>
          <p:nvPr/>
        </p:nvSpPr>
        <p:spPr>
          <a:xfrm>
            <a:off x="3254812" y="5717935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 i="1" baseline="0">
                <a:latin typeface="Times New Roman"/>
                <a:ea typeface="Segoe UI"/>
                <a:cs typeface="Segoe UI"/>
              </a:rPr>
              <a:t>      </a:t>
            </a:r>
            <a:r>
              <a:rPr lang="en-GB" sz="1600" b="1" i="1">
                <a:latin typeface="Times New Roman"/>
                <a:ea typeface="Segoe UI"/>
                <a:cs typeface="Segoe UI"/>
              </a:rPr>
              <a:t>                   </a:t>
            </a:r>
            <a:r>
              <a:rPr lang="en-GB" sz="1600" b="1" i="1" baseline="0">
                <a:latin typeface="Times New Roman"/>
                <a:ea typeface="Segoe UI"/>
                <a:cs typeface="Segoe UI"/>
              </a:rPr>
              <a:t>Figure </a:t>
            </a:r>
            <a:r>
              <a:rPr lang="en-GB" sz="1600" b="1" i="1">
                <a:latin typeface="Times New Roman"/>
                <a:ea typeface="Segoe UI"/>
                <a:cs typeface="Segoe UI"/>
              </a:rPr>
              <a:t>9.3</a:t>
            </a:r>
            <a:r>
              <a:rPr lang="en-GB" sz="1600" b="1" i="1" baseline="0">
                <a:latin typeface="Times New Roman"/>
                <a:ea typeface="Segoe UI"/>
                <a:cs typeface="Segoe UI"/>
              </a:rPr>
              <a:t> : </a:t>
            </a:r>
            <a:r>
              <a:rPr lang="en-GB" sz="1600" b="1" i="1">
                <a:latin typeface="Times New Roman"/>
                <a:ea typeface="Segoe UI"/>
                <a:cs typeface="Segoe UI"/>
              </a:rPr>
              <a:t>Active Fire Detection –</a:t>
            </a:r>
            <a:r>
              <a:rPr lang="en-GB" sz="1600" b="1" i="1">
                <a:solidFill>
                  <a:srgbClr val="7030A0"/>
                </a:solidFill>
                <a:latin typeface="Times New Roman"/>
                <a:ea typeface="Segoe UI"/>
                <a:cs typeface="Segoe UI"/>
              </a:rPr>
              <a:t> live fire map</a:t>
            </a:r>
          </a:p>
          <a:p>
            <a:pPr algn="ctr"/>
            <a:endParaRPr lang="en-GB"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6623D3-8FB6-CC7D-B7F3-D56A6C93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12" y="965794"/>
            <a:ext cx="9612940" cy="464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38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850187" y="2184339"/>
            <a:ext cx="9167255" cy="12192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b="1" kern="1200" spc="-50">
                <a:solidFill>
                  <a:srgbClr val="404040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 algn="ctr">
              <a:defRPr/>
            </a:pPr>
            <a:r>
              <a:rPr lang="en-US" sz="6600"/>
              <a:t>Thank YOU!!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14470" y="224658"/>
            <a:ext cx="10616597" cy="548226"/>
          </a:xfr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Queries?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5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1"/>
</p:tagLst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29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Office-tema</vt:lpstr>
      <vt:lpstr>PowerPoint Presentation</vt:lpstr>
      <vt:lpstr>Outline</vt:lpstr>
      <vt:lpstr>Introduction</vt:lpstr>
      <vt:lpstr>Problem Statement</vt:lpstr>
      <vt:lpstr>Objectives</vt:lpstr>
      <vt:lpstr>Literature Review</vt:lpstr>
      <vt:lpstr>Literature Review</vt:lpstr>
      <vt:lpstr>Methodology</vt:lpstr>
      <vt:lpstr>Methodology</vt:lpstr>
      <vt:lpstr>System Flowchart</vt:lpstr>
      <vt:lpstr>Task Accomplished</vt:lpstr>
      <vt:lpstr>Task Accomplished</vt:lpstr>
      <vt:lpstr>Task Accomplished</vt:lpstr>
      <vt:lpstr>Task Accomplished</vt:lpstr>
      <vt:lpstr>Task Accomplished</vt:lpstr>
      <vt:lpstr>Task Accomplished</vt:lpstr>
      <vt:lpstr>Task Accomplished</vt:lpstr>
      <vt:lpstr>Task Accomplished</vt:lpstr>
      <vt:lpstr>Task Accomplished</vt:lpstr>
      <vt:lpstr>Task Accomplished</vt:lpstr>
      <vt:lpstr>Task Accomplished</vt:lpstr>
      <vt:lpstr>Task Accomplished</vt:lpstr>
      <vt:lpstr>Task Accomplished</vt:lpstr>
      <vt:lpstr>Task Remaining</vt:lpstr>
      <vt:lpstr>References </vt:lpstr>
      <vt:lpstr>References </vt:lpstr>
      <vt:lpstr>Appendix</vt:lpstr>
      <vt:lpstr>Appendix</vt:lpstr>
      <vt:lpstr>Queries?</vt:lpstr>
    </vt:vector>
  </TitlesOfParts>
  <Company>NTNU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Kolbjørn Skarpnes</dc:creator>
  <cp:revision>4</cp:revision>
  <cp:lastPrinted>2021-08-01T04:31:40Z</cp:lastPrinted>
  <dcterms:created xsi:type="dcterms:W3CDTF">2013-06-10T16:56:09Z</dcterms:created>
  <dcterms:modified xsi:type="dcterms:W3CDTF">2026-02-17T06:26:19Z</dcterms:modified>
</cp:coreProperties>
</file>